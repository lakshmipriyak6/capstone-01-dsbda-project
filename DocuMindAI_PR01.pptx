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19"/>
  </p:notesMasterIdLst>
  <p:handoutMasterIdLst>
    <p:handoutMasterId r:id="rId20"/>
  </p:handoutMasterIdLst>
  <p:sldIdLst>
    <p:sldId id="338" r:id="rId4"/>
    <p:sldId id="322" r:id="rId5"/>
    <p:sldId id="351" r:id="rId6"/>
    <p:sldId id="357" r:id="rId7"/>
    <p:sldId id="350" r:id="rId8"/>
    <p:sldId id="368" r:id="rId9"/>
    <p:sldId id="370" r:id="rId10"/>
    <p:sldId id="371" r:id="rId11"/>
    <p:sldId id="353" r:id="rId12"/>
    <p:sldId id="354" r:id="rId13"/>
    <p:sldId id="358" r:id="rId14"/>
    <p:sldId id="359" r:id="rId15"/>
    <p:sldId id="355" r:id="rId16"/>
    <p:sldId id="356" r:id="rId17"/>
    <p:sldId id="332" r:id="rId18"/>
  </p:sldIdLst>
  <p:sldSz cx="12192000" cy="6858000"/>
  <p:notesSz cx="7102475" cy="903732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58"/>
    <p:restoredTop sz="95833"/>
  </p:normalViewPr>
  <p:slideViewPr>
    <p:cSldViewPr snapToGrid="0" snapToObjects="1">
      <p:cViewPr varScale="1">
        <p:scale>
          <a:sx n="81" d="100"/>
          <a:sy n="81" d="100"/>
        </p:scale>
        <p:origin x="605" y="67"/>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56171" cy="453451"/>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fld>
            <a:endParaRPr lang="en-US"/>
          </a:p>
        </p:txBody>
      </p:sp>
      <p:sp>
        <p:nvSpPr>
          <p:cNvPr id="5" name="Footer Placeholder 4"/>
          <p:cNvSpPr>
            <a:spLocks noGrp="1"/>
          </p:cNvSpPr>
          <p:nvPr>
            <p:ph type="ftr" sz="quarter" idx="11"/>
          </p:nvPr>
        </p:nvSpPr>
        <p:spPr/>
        <p:txBody>
          <a:bodyPr/>
          <a:lstStyle/>
          <a:p>
            <a:r>
              <a:rPr lang="en-US" dirty="0"/>
              <a:t>REVIEW – 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587173D6-3CEE-8F48-B559-8A1AAA479881}"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fld>
            <a:endParaRPr lang="en-US"/>
          </a:p>
        </p:txBody>
      </p:sp>
      <p:sp>
        <p:nvSpPr>
          <p:cNvPr id="4" name="Footer Placeholder 3"/>
          <p:cNvSpPr>
            <a:spLocks noGrp="1"/>
          </p:cNvSpPr>
          <p:nvPr>
            <p:ph type="ftr" sz="quarter" idx="11"/>
          </p:nvPr>
        </p:nvSpPr>
        <p:spPr/>
        <p:txBody>
          <a:bodyPr/>
          <a:lstStyle/>
          <a:p>
            <a:r>
              <a:rPr lang="en-US"/>
              <a:t>REVIEW – 1 / 2 / 3    173030211    Department of CSE</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fld>
            <a:endParaRPr lang="en-US"/>
          </a:p>
        </p:txBody>
      </p:sp>
      <p:sp>
        <p:nvSpPr>
          <p:cNvPr id="3" name="Footer Placeholder 2"/>
          <p:cNvSpPr>
            <a:spLocks noGrp="1"/>
          </p:cNvSpPr>
          <p:nvPr>
            <p:ph type="ftr" sz="quarter" idx="11"/>
          </p:nvPr>
        </p:nvSpPr>
        <p:spPr/>
        <p:txBody>
          <a:bodyPr/>
          <a:lstStyle/>
          <a:p>
            <a:r>
              <a:rPr lang="en-US"/>
              <a:t>REVIEW – 1 / 2 / 3    173030211    Department of CSE</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89DDB05C-DA09-D54E-BE90-A914E23C1D37}"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CDE2264A-0DD4-554E-9BAF-72F2B974B4C3}"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634EACA4-A1C6-9F4F-978A-D3AE7141A61E}" type="datetime1">
              <a:rPr lang="en-IN" smtClean="0"/>
            </a:fld>
            <a:endParaRPr lang="en-US"/>
          </a:p>
        </p:txBody>
      </p:sp>
      <p:sp>
        <p:nvSpPr>
          <p:cNvPr id="5" name="Footer Placeholder 4"/>
          <p:cNvSpPr>
            <a:spLocks noGrp="1"/>
          </p:cNvSpPr>
          <p:nvPr>
            <p:ph type="ftr" sz="quarter" idx="11"/>
          </p:nvPr>
        </p:nvSpPr>
        <p:spPr/>
        <p:txBody>
          <a:bodyPr/>
          <a:lstStyle/>
          <a:p>
            <a:r>
              <a:rPr lang="en-US"/>
              <a:t>REVIEW – 1 / 2 / 3    173030211    Department of CSE</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fld>
            <a:endParaRPr lang="en-US"/>
          </a:p>
        </p:txBody>
      </p:sp>
      <p:sp>
        <p:nvSpPr>
          <p:cNvPr id="6" name="Footer Placeholder 5"/>
          <p:cNvSpPr>
            <a:spLocks noGrp="1"/>
          </p:cNvSpPr>
          <p:nvPr>
            <p:ph type="ftr" sz="quarter" idx="11"/>
          </p:nvPr>
        </p:nvSpPr>
        <p:spPr/>
        <p:txBody>
          <a:bodyPr/>
          <a:lstStyle/>
          <a:p>
            <a:r>
              <a:rPr lang="en-US"/>
              <a:t>REVIEW – 1 / 2 / 3    173030211    Department of CSE</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fld>
            <a:endParaRPr lang="en-US"/>
          </a:p>
        </p:txBody>
      </p:sp>
      <p:sp>
        <p:nvSpPr>
          <p:cNvPr id="8" name="Footer Placeholder 7"/>
          <p:cNvSpPr>
            <a:spLocks noGrp="1"/>
          </p:cNvSpPr>
          <p:nvPr>
            <p:ph type="ftr" sz="quarter" idx="11"/>
          </p:nvPr>
        </p:nvSpPr>
        <p:spPr/>
        <p:txBody>
          <a:bodyPr/>
          <a:lstStyle/>
          <a:p>
            <a:r>
              <a:rPr lang="en-US"/>
              <a:t>REVIEW – 1 / 2 / 3    173030211    Department of CSE</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wrap="square"/>
          <a:lstStyle/>
          <a:p>
            <a:pPr algn="l"/>
            <a:r>
              <a:rPr sz="900" b="0">
                <a:solidFill>
                  <a:srgbClr val="646464"/>
                </a:solidFill>
                <a:latin typeface="Aptos"/>
              </a:rPr>
              <a:t>07/09/2026</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44595" y="5458409"/>
            <a:ext cx="2175809" cy="897941"/>
          </a:xfrm>
          <a:prstGeom prst="rect">
            <a:avLst/>
          </a:prstGeom>
        </p:spPr>
      </p:pic>
      <p:sp>
        <p:nvSpPr>
          <p:cNvPr id="8" name="TextBox 7"/>
          <p:cNvSpPr txBox="1"/>
          <p:nvPr/>
        </p:nvSpPr>
        <p:spPr>
          <a:xfrm>
            <a:off x="3088005" y="481330"/>
            <a:ext cx="5760720" cy="411480"/>
          </a:xfrm>
          <a:prstGeom prst="rect">
            <a:avLst/>
          </a:prstGeom>
          <a:noFill/>
        </p:spPr>
        <p:txBody>
          <a:bodyPr wrap="square">
            <a:spAutoFit/>
          </a:bodyPr>
          <a:lstStyle/>
          <a:p>
            <a:pPr algn="ctr"/>
            <a:r>
              <a:rPr sz="2200" b="1">
                <a:solidFill>
                  <a:srgbClr val="C80000"/>
                </a:solidFill>
                <a:latin typeface="Aptos"/>
              </a:rPr>
              <a:t>ENGINEERING CAPSTONE PROJECT – 1</a:t>
            </a:r>
            <a:endParaRPr sz="2200" b="1">
              <a:solidFill>
                <a:srgbClr val="C80000"/>
              </a:solidFill>
              <a:latin typeface="Aptos"/>
            </a:endParaRPr>
          </a:p>
        </p:txBody>
      </p:sp>
      <p:sp>
        <p:nvSpPr>
          <p:cNvPr id="9" name="TextBox 8"/>
          <p:cNvSpPr txBox="1"/>
          <p:nvPr/>
        </p:nvSpPr>
        <p:spPr>
          <a:xfrm>
            <a:off x="3581400" y="1059815"/>
            <a:ext cx="4937760" cy="365760"/>
          </a:xfrm>
          <a:prstGeom prst="rect">
            <a:avLst/>
          </a:prstGeom>
          <a:noFill/>
        </p:spPr>
        <p:txBody>
          <a:bodyPr wrap="square">
            <a:spAutoFit/>
          </a:bodyPr>
          <a:lstStyle/>
          <a:p>
            <a:pPr algn="ctr"/>
            <a:r>
              <a:rPr sz="2200" b="1">
                <a:solidFill>
                  <a:srgbClr val="4472C4"/>
                </a:solidFill>
                <a:latin typeface="Aptos"/>
              </a:rPr>
              <a:t>Project Review – 1</a:t>
            </a:r>
            <a:endParaRPr sz="2200" b="1">
              <a:solidFill>
                <a:srgbClr val="4472C4"/>
              </a:solidFill>
              <a:latin typeface="Aptos"/>
            </a:endParaRPr>
          </a:p>
        </p:txBody>
      </p:sp>
      <p:sp>
        <p:nvSpPr>
          <p:cNvPr id="10" name="TextBox 9"/>
          <p:cNvSpPr txBox="1"/>
          <p:nvPr/>
        </p:nvSpPr>
        <p:spPr>
          <a:xfrm>
            <a:off x="1016000" y="1520190"/>
            <a:ext cx="9923780" cy="799465"/>
          </a:xfrm>
          <a:prstGeom prst="rect">
            <a:avLst/>
          </a:prstGeom>
          <a:noFill/>
        </p:spPr>
        <p:txBody>
          <a:bodyPr wrap="square">
            <a:noAutofit/>
          </a:bodyPr>
          <a:lstStyle/>
          <a:p>
            <a:pPr algn="ctr"/>
            <a:br>
              <a:rPr sz="2400" b="1">
                <a:solidFill>
                  <a:srgbClr val="1F1F1F"/>
                </a:solidFill>
                <a:latin typeface="Aptos"/>
              </a:rPr>
            </a:br>
            <a:r>
              <a:rPr lang="en-US" altLang="en-US" sz="2400" b="1">
                <a:solidFill>
                  <a:srgbClr val="1F1F1F"/>
                </a:solidFill>
                <a:latin typeface="Aptos"/>
              </a:rPr>
              <a:t>DocuMind AI: A RAG-Based Document Analytics System for Context-Aware Question Answering and Pattern Discovery</a:t>
            </a:r>
            <a:endParaRPr lang="en-US" altLang="en-US" sz="2400" b="1">
              <a:solidFill>
                <a:srgbClr val="1F1F1F"/>
              </a:solidFill>
              <a:latin typeface="Aptos"/>
            </a:endParaRPr>
          </a:p>
        </p:txBody>
      </p:sp>
      <p:sp>
        <p:nvSpPr>
          <p:cNvPr id="11" name="TextBox 10"/>
          <p:cNvSpPr txBox="1"/>
          <p:nvPr/>
        </p:nvSpPr>
        <p:spPr>
          <a:xfrm>
            <a:off x="4194810" y="2858770"/>
            <a:ext cx="3566160" cy="337185"/>
          </a:xfrm>
          <a:prstGeom prst="rect">
            <a:avLst/>
          </a:prstGeom>
          <a:noFill/>
        </p:spPr>
        <p:txBody>
          <a:bodyPr wrap="square">
            <a:spAutoFit/>
          </a:bodyPr>
          <a:lstStyle/>
          <a:p>
            <a:pPr algn="ctr"/>
            <a:r>
              <a:rPr sz="1600" b="1">
                <a:solidFill>
                  <a:srgbClr val="1F1F1F"/>
                </a:solidFill>
                <a:latin typeface="Aptos"/>
              </a:rPr>
              <a:t>Team No:</a:t>
            </a:r>
            <a:r>
              <a:rPr lang="en-US" sz="1600" b="1">
                <a:solidFill>
                  <a:srgbClr val="1F1F1F"/>
                </a:solidFill>
                <a:latin typeface="Aptos"/>
              </a:rPr>
              <a:t> DSBDA35</a:t>
            </a:r>
            <a:endParaRPr sz="1600" b="1">
              <a:solidFill>
                <a:srgbClr val="1F1F1F"/>
              </a:solidFill>
              <a:latin typeface="Aptos"/>
            </a:endParaRPr>
          </a:p>
        </p:txBody>
      </p:sp>
      <p:sp>
        <p:nvSpPr>
          <p:cNvPr id="12" name="TextBox 11"/>
          <p:cNvSpPr txBox="1"/>
          <p:nvPr/>
        </p:nvSpPr>
        <p:spPr>
          <a:xfrm>
            <a:off x="3816350" y="3342005"/>
            <a:ext cx="5406390" cy="829945"/>
          </a:xfrm>
          <a:prstGeom prst="rect">
            <a:avLst/>
          </a:prstGeom>
          <a:noFill/>
        </p:spPr>
        <p:txBody>
          <a:bodyPr wrap="square">
            <a:spAutoFit/>
          </a:bodyPr>
          <a:lstStyle/>
          <a:p>
            <a:pPr algn="l"/>
            <a:r>
              <a:rPr lang="en-US" sz="1600" b="1">
                <a:solidFill>
                  <a:srgbClr val="1F1F1F"/>
                </a:solidFill>
                <a:latin typeface="Aptos"/>
              </a:rPr>
              <a:t>2320030453 - Kalvakota Lakshmipriya</a:t>
            </a:r>
            <a:br>
              <a:rPr sz="1600" b="1">
                <a:solidFill>
                  <a:srgbClr val="1F1F1F"/>
                </a:solidFill>
                <a:latin typeface="Aptos"/>
              </a:rPr>
            </a:br>
            <a:r>
              <a:rPr lang="en-US" sz="1600" b="1">
                <a:solidFill>
                  <a:srgbClr val="1F1F1F"/>
                </a:solidFill>
                <a:latin typeface="Aptos"/>
              </a:rPr>
              <a:t>2320030439 - Peddirajugari Vishnu Vardhan Reddy</a:t>
            </a:r>
            <a:br>
              <a:rPr sz="1600" b="1">
                <a:solidFill>
                  <a:srgbClr val="1F1F1F"/>
                </a:solidFill>
                <a:latin typeface="Aptos"/>
              </a:rPr>
            </a:br>
            <a:r>
              <a:rPr lang="en-US" sz="1600" b="1">
                <a:solidFill>
                  <a:srgbClr val="1F1F1F"/>
                </a:solidFill>
                <a:latin typeface="Aptos"/>
              </a:rPr>
              <a:t>2320030452 - Mukku Dinesh Reddy</a:t>
            </a:r>
            <a:endParaRPr lang="en-US" sz="1600" b="1">
              <a:solidFill>
                <a:srgbClr val="1F1F1F"/>
              </a:solidFill>
              <a:latin typeface="Aptos"/>
            </a:endParaRPr>
          </a:p>
        </p:txBody>
      </p:sp>
      <p:sp>
        <p:nvSpPr>
          <p:cNvPr id="13" name="TextBox 12"/>
          <p:cNvSpPr txBox="1"/>
          <p:nvPr/>
        </p:nvSpPr>
        <p:spPr>
          <a:xfrm>
            <a:off x="3865245" y="4317365"/>
            <a:ext cx="4206240" cy="875665"/>
          </a:xfrm>
          <a:prstGeom prst="rect">
            <a:avLst/>
          </a:prstGeom>
          <a:noFill/>
        </p:spPr>
        <p:txBody>
          <a:bodyPr wrap="square">
            <a:spAutoFit/>
          </a:bodyPr>
          <a:lstStyle/>
          <a:p>
            <a:pPr algn="ctr"/>
            <a:r>
              <a:rPr sz="1700" b="0">
                <a:solidFill>
                  <a:srgbClr val="009650"/>
                </a:solidFill>
                <a:latin typeface="Aptos"/>
              </a:rPr>
              <a:t>Under the Guidance of</a:t>
            </a:r>
            <a:br>
              <a:rPr sz="1700" b="0">
                <a:solidFill>
                  <a:srgbClr val="009650"/>
                </a:solidFill>
                <a:latin typeface="Aptos"/>
              </a:rPr>
            </a:br>
            <a:r>
              <a:rPr lang="en-US" sz="1700" b="0">
                <a:solidFill>
                  <a:srgbClr val="009650"/>
                </a:solidFill>
                <a:latin typeface="Aptos"/>
              </a:rPr>
              <a:t>Dr.N.Sirisha</a:t>
            </a:r>
            <a:br>
              <a:rPr sz="1700" b="0">
                <a:solidFill>
                  <a:srgbClr val="009650"/>
                </a:solidFill>
                <a:latin typeface="Aptos"/>
              </a:rPr>
            </a:br>
            <a:r>
              <a:rPr sz="1700" b="0">
                <a:solidFill>
                  <a:srgbClr val="009650"/>
                </a:solidFill>
                <a:latin typeface="Aptos"/>
              </a:rPr>
              <a:t>Ass</a:t>
            </a:r>
            <a:r>
              <a:rPr lang="en-US" sz="1700" b="0">
                <a:solidFill>
                  <a:srgbClr val="009650"/>
                </a:solidFill>
                <a:latin typeface="Aptos"/>
              </a:rPr>
              <a:t>ociate</a:t>
            </a:r>
            <a:r>
              <a:rPr sz="1700" b="0">
                <a:solidFill>
                  <a:srgbClr val="009650"/>
                </a:solidFill>
                <a:latin typeface="Aptos"/>
              </a:rPr>
              <a:t> Professor</a:t>
            </a:r>
            <a:endParaRPr sz="1700" b="0">
              <a:solidFill>
                <a:srgbClr val="009650"/>
              </a:solidFill>
              <a:latin typeface="Aptos"/>
            </a:endParaRPr>
          </a:p>
        </p:txBody>
      </p:sp>
      <p:sp>
        <p:nvSpPr>
          <p:cNvPr id="15" name="TextBox 14"/>
          <p:cNvSpPr txBox="1"/>
          <p:nvPr/>
        </p:nvSpPr>
        <p:spPr>
          <a:xfrm>
            <a:off x="3261360" y="6356350"/>
            <a:ext cx="5669280" cy="274320"/>
          </a:xfrm>
          <a:prstGeom prst="rect">
            <a:avLst/>
          </a:prstGeom>
          <a:noFill/>
        </p:spPr>
        <p:txBody>
          <a:bodyPr wrap="square">
            <a:spAutoFit/>
          </a:bodyPr>
          <a:lstStyle/>
          <a:p>
            <a:pPr algn="ctr"/>
            <a:r>
              <a:rPr sz="1200" b="1">
                <a:solidFill>
                  <a:srgbClr val="B40000"/>
                </a:solidFill>
                <a:latin typeface="Aptos"/>
              </a:rPr>
              <a:t>KONERU LAKSHMAIAH EDUCATION FOUNDATION</a:t>
            </a:r>
            <a:endParaRPr sz="1200" b="1">
              <a:solidFill>
                <a:srgbClr val="B40000"/>
              </a:solidFill>
              <a:latin typeface="Aptos"/>
            </a:endParaRPr>
          </a:p>
        </p:txBody>
      </p:sp>
      <p:sp>
        <p:nvSpPr>
          <p:cNvPr id="2" name="Text Box 1"/>
          <p:cNvSpPr txBox="1"/>
          <p:nvPr/>
        </p:nvSpPr>
        <p:spPr>
          <a:xfrm>
            <a:off x="2253615" y="5151120"/>
            <a:ext cx="7430135" cy="368300"/>
          </a:xfrm>
          <a:prstGeom prst="rect">
            <a:avLst/>
          </a:prstGeom>
          <a:noFill/>
        </p:spPr>
        <p:txBody>
          <a:bodyPr wrap="square" rtlCol="0" anchor="t">
            <a:spAutoFit/>
          </a:bodyPr>
          <a:p>
            <a:pPr marL="0" indent="0" algn="ctr">
              <a:buNone/>
            </a:pPr>
            <a:r>
              <a:rPr lang="en-US" dirty="0">
                <a:solidFill>
                  <a:srgbClr val="00B050"/>
                </a:solidFill>
                <a:sym typeface="+mn-ea"/>
              </a:rPr>
              <a:t>Department of Computer Science and Engineering</a:t>
            </a:r>
            <a:endParaRPr lang="en-US" dirty="0">
              <a:solidFill>
                <a:srgbClr val="00B05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8" name="TextBox 7"/>
          <p:cNvSpPr txBox="1"/>
          <p:nvPr/>
        </p:nvSpPr>
        <p:spPr>
          <a:xfrm>
            <a:off x="1068705" y="766445"/>
            <a:ext cx="9875520" cy="521970"/>
          </a:xfrm>
          <a:prstGeom prst="rect">
            <a:avLst/>
          </a:prstGeom>
          <a:noFill/>
        </p:spPr>
        <p:txBody>
          <a:bodyPr wrap="square">
            <a:spAutoFit/>
          </a:bodyPr>
          <a:lstStyle/>
          <a:p>
            <a:pPr algn="ctr"/>
            <a:r>
              <a:rPr sz="2800" b="1">
                <a:solidFill>
                  <a:srgbClr val="1F1F1F"/>
                </a:solidFill>
                <a:latin typeface="Aptos"/>
              </a:rPr>
              <a:t>OUTLINE</a:t>
            </a:r>
            <a:endParaRPr sz="2800" b="1">
              <a:solidFill>
                <a:srgbClr val="1F1F1F"/>
              </a:solidFill>
              <a:latin typeface="Aptos"/>
            </a:endParaRPr>
          </a:p>
        </p:txBody>
      </p:sp>
      <p:sp>
        <p:nvSpPr>
          <p:cNvPr id="9" name="TextBox 8"/>
          <p:cNvSpPr txBox="1"/>
          <p:nvPr/>
        </p:nvSpPr>
        <p:spPr>
          <a:xfrm>
            <a:off x="1221740" y="1543050"/>
            <a:ext cx="4584700" cy="3538220"/>
          </a:xfrm>
          <a:prstGeom prst="rect">
            <a:avLst/>
          </a:prstGeom>
          <a:noFill/>
        </p:spPr>
        <p:txBody>
          <a:bodyPr wrap="square">
            <a:spAutoFit/>
          </a:bodyPr>
          <a:lstStyle/>
          <a:p>
            <a:pPr algn="l">
              <a:lnSpc>
                <a:spcPct val="140000"/>
              </a:lnSpc>
            </a:pPr>
            <a:r>
              <a:rPr sz="2000" b="0">
                <a:solidFill>
                  <a:srgbClr val="1F1F1F"/>
                </a:solidFill>
                <a:latin typeface="Arial" panose="020B0604020202020204" pitchFamily="34" charset="0"/>
                <a:cs typeface="Arial" panose="020B0604020202020204" pitchFamily="34" charset="0"/>
              </a:rPr>
              <a:t>1. Introduction</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2. Problem Statement</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3. Objectives</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4. Literature Survey</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5. Research Gap Identification</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6. Innovation, Creativity, and Novelty</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7. Feasibility and Project Plan</a:t>
            </a:r>
            <a:br>
              <a:rPr sz="2000" b="0">
                <a:solidFill>
                  <a:srgbClr val="1F1F1F"/>
                </a:solidFill>
                <a:latin typeface="Arial" panose="020B0604020202020204" pitchFamily="34" charset="0"/>
                <a:cs typeface="Arial" panose="020B0604020202020204" pitchFamily="34" charset="0"/>
              </a:rPr>
            </a:br>
            <a:r>
              <a:rPr sz="2000" b="0">
                <a:solidFill>
                  <a:srgbClr val="1F1F1F"/>
                </a:solidFill>
                <a:latin typeface="Arial" panose="020B0604020202020204" pitchFamily="34" charset="0"/>
                <a:cs typeface="Arial" panose="020B0604020202020204" pitchFamily="34" charset="0"/>
              </a:rPr>
              <a:t>8. Conclusion &amp; References</a:t>
            </a:r>
            <a:endParaRPr sz="2000" b="0">
              <a:solidFill>
                <a:srgbClr val="1F1F1F"/>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48125"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458595" y="387350"/>
            <a:ext cx="5679440" cy="521970"/>
          </a:xfrm>
          <a:prstGeom prst="rect">
            <a:avLst/>
          </a:prstGeom>
          <a:noFill/>
        </p:spPr>
        <p:txBody>
          <a:bodyPr wrap="square">
            <a:spAutoFit/>
          </a:bodyPr>
          <a:lstStyle/>
          <a:p>
            <a:pPr algn="ctr"/>
            <a:r>
              <a:rPr sz="2800" b="1">
                <a:solidFill>
                  <a:srgbClr val="1F1F1F"/>
                </a:solidFill>
                <a:latin typeface="Aptos"/>
              </a:rPr>
              <a:t>Introduction</a:t>
            </a:r>
            <a:endParaRPr sz="2800" b="1">
              <a:solidFill>
                <a:srgbClr val="1F1F1F"/>
              </a:solidFill>
              <a:latin typeface="Aptos"/>
            </a:endParaRPr>
          </a:p>
        </p:txBody>
      </p:sp>
      <p:sp>
        <p:nvSpPr>
          <p:cNvPr id="13" name="TextBox 12"/>
          <p:cNvSpPr txBox="1"/>
          <p:nvPr/>
        </p:nvSpPr>
        <p:spPr>
          <a:xfrm>
            <a:off x="649605" y="1131570"/>
            <a:ext cx="5486400" cy="5726430"/>
          </a:xfrm>
          <a:prstGeom prst="rect">
            <a:avLst/>
          </a:prstGeom>
          <a:noFill/>
        </p:spPr>
        <p:txBody>
          <a:bodyPr wrap="square">
            <a:noAutofit/>
          </a:bodyPr>
          <a:lstStyle/>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Digital documents contain large amounts of unstructured information.</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Finding useful information manually is time-consuming.</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Traditional keyword search has limited semantic understanding.</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LLMs can understand natural-language queries but may generate unsupported information.</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RAG can retrieve relevant document content before generating an answer.</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This project proposes an intelligent system for document-based question answering and analysis.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9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The system will also explore pattern identification and visualization from document data.</a:t>
            </a:r>
            <a:endParaRPr lang="en-US" altLang="en-US" sz="1600">
              <a:solidFill>
                <a:srgbClr val="1F1F1F"/>
              </a:solidFill>
              <a:latin typeface="Arial" panose="020B0604020202020204" pitchFamily="34" charset="0"/>
              <a:cs typeface="Arial" panose="020B0604020202020204" pitchFamily="34" charset="0"/>
            </a:endParaRPr>
          </a:p>
          <a:p>
            <a:pPr indent="0" algn="just">
              <a:lnSpc>
                <a:spcPct val="70000"/>
              </a:lnSpc>
              <a:spcAft>
                <a:spcPts val="900"/>
              </a:spcAft>
              <a:buFont typeface="Arial" panose="020B0604020202020204" pitchFamily="34" charset="0"/>
              <a:buNone/>
            </a:pPr>
            <a:r>
              <a:rPr lang="en-US" altLang="en-US" sz="1600">
                <a:solidFill>
                  <a:srgbClr val="1F1F1F"/>
                </a:solidFill>
                <a:latin typeface="Arial" panose="020B0604020202020204" pitchFamily="34" charset="0"/>
                <a:cs typeface="Arial" panose="020B0604020202020204" pitchFamily="34" charset="0"/>
              </a:rPr>
              <a:t>Applications: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7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Research papers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7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Academic documents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7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Business reports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7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Technical documents</a:t>
            </a:r>
            <a:endParaRPr lang="en-US" altLang="en-US" sz="1600">
              <a:solidFill>
                <a:srgbClr val="1F1F1F"/>
              </a:solidFill>
              <a:latin typeface="Arial" panose="020B0604020202020204" pitchFamily="34" charset="0"/>
              <a:cs typeface="Arial" panose="020B0604020202020204" pitchFamily="34" charset="0"/>
            </a:endParaRPr>
          </a:p>
          <a:p>
            <a:pPr marL="285750" indent="-285750" algn="just">
              <a:lnSpc>
                <a:spcPct val="70000"/>
              </a:lnSpc>
              <a:spcAft>
                <a:spcPts val="900"/>
              </a:spcAft>
              <a:buFont typeface="Arial" panose="020B0604020202020204" pitchFamily="34" charset="0"/>
              <a:buChar char="•"/>
            </a:pPr>
            <a:r>
              <a:rPr lang="en-US" altLang="en-US" sz="1600">
                <a:solidFill>
                  <a:srgbClr val="1F1F1F"/>
                </a:solidFill>
                <a:latin typeface="Arial" panose="020B0604020202020204" pitchFamily="34" charset="0"/>
                <a:cs typeface="Arial" panose="020B0604020202020204" pitchFamily="34" charset="0"/>
              </a:rPr>
              <a:t>Financial reports</a:t>
            </a:r>
            <a:endParaRPr lang="en-US" altLang="en-US" sz="1600">
              <a:solidFill>
                <a:srgbClr val="1F1F1F"/>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7253605" y="0"/>
            <a:ext cx="457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65777"/>
            <a:ext cx="2743200" cy="365125"/>
          </a:xfrm>
        </p:spPr>
        <p:txBody>
          <a:bodyPr wrap="square"/>
          <a:lstStyle/>
          <a:p>
            <a:pPr algn="l"/>
            <a:r>
              <a:rPr sz="900" b="0">
                <a:solidFill>
                  <a:srgbClr val="646464"/>
                </a:solidFill>
                <a:latin typeface="Aptos"/>
              </a:rPr>
              <a:t>07/09/2026</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7"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8" name="TextBox 7"/>
          <p:cNvSpPr txBox="1"/>
          <p:nvPr/>
        </p:nvSpPr>
        <p:spPr>
          <a:xfrm>
            <a:off x="1516380" y="774065"/>
            <a:ext cx="9300845" cy="521970"/>
          </a:xfrm>
          <a:prstGeom prst="rect">
            <a:avLst/>
          </a:prstGeom>
          <a:noFill/>
        </p:spPr>
        <p:txBody>
          <a:bodyPr wrap="square">
            <a:spAutoFit/>
          </a:bodyPr>
          <a:lstStyle/>
          <a:p>
            <a:pPr algn="ctr"/>
            <a:r>
              <a:rPr sz="2800" b="1">
                <a:solidFill>
                  <a:srgbClr val="1F1F1F"/>
                </a:solidFill>
                <a:latin typeface="Aptos"/>
              </a:rPr>
              <a:t>Problem Statemen</a:t>
            </a:r>
            <a:r>
              <a:rPr lang="en-US" sz="2800" b="1">
                <a:solidFill>
                  <a:srgbClr val="1F1F1F"/>
                </a:solidFill>
                <a:latin typeface="Aptos"/>
              </a:rPr>
              <a:t>t</a:t>
            </a:r>
            <a:endParaRPr lang="en-US" sz="2800" b="1">
              <a:solidFill>
                <a:srgbClr val="1F1F1F"/>
              </a:solidFill>
              <a:latin typeface="Aptos"/>
            </a:endParaRPr>
          </a:p>
        </p:txBody>
      </p:sp>
      <p:sp>
        <p:nvSpPr>
          <p:cNvPr id="9" name="TextBox 8"/>
          <p:cNvSpPr txBox="1"/>
          <p:nvPr/>
        </p:nvSpPr>
        <p:spPr>
          <a:xfrm>
            <a:off x="909320" y="1623695"/>
            <a:ext cx="10373995" cy="2028825"/>
          </a:xfrm>
          <a:prstGeom prst="rect">
            <a:avLst/>
          </a:prstGeom>
          <a:noFill/>
        </p:spPr>
        <p:txBody>
          <a:bodyPr wrap="square">
            <a:noAutofit/>
          </a:bodyPr>
          <a:lstStyle/>
          <a:p>
            <a:pPr algn="l">
              <a:lnSpc>
                <a:spcPct val="110000"/>
              </a:lnSpc>
            </a:pPr>
            <a:r>
              <a:rPr lang="en-US" altLang="en-US" b="0">
                <a:solidFill>
                  <a:srgbClr val="1F1F1F"/>
                </a:solidFill>
                <a:latin typeface="Arial" panose="020B0604020202020204" pitchFamily="34" charset="0"/>
                <a:cs typeface="Arial" panose="020B0604020202020204" pitchFamily="34" charset="0"/>
              </a:rPr>
              <a:t>Existing document search and question-answering systems have limitations in understanding document context and providing reliable information. Most systems primarily focus on retrieving text or answering questions, while document-level analysis and visualization are often handled separately. Therefore, this project proposes an intelligent RAG-based system that will retrieve relevant information from uploaded documents and provide context-based answers, with an additional planned module for extracting data and identifying useful patterns and visual insights.</a:t>
            </a:r>
            <a:endParaRPr lang="en-US" altLang="en-US" b="0">
              <a:solidFill>
                <a:srgbClr val="1F1F1F"/>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1915" y="6254115"/>
            <a:ext cx="2743200" cy="365125"/>
          </a:xfrm>
        </p:spPr>
        <p:txBody>
          <a:bodyPr wrap="square"/>
          <a:lstStyle/>
          <a:p>
            <a:pPr algn="l"/>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158240" y="690245"/>
            <a:ext cx="9875520" cy="521970"/>
          </a:xfrm>
          <a:prstGeom prst="rect">
            <a:avLst/>
          </a:prstGeom>
          <a:noFill/>
        </p:spPr>
        <p:txBody>
          <a:bodyPr wrap="square">
            <a:spAutoFit/>
          </a:bodyPr>
          <a:lstStyle/>
          <a:p>
            <a:pPr algn="ctr"/>
            <a:r>
              <a:rPr sz="2800" b="1">
                <a:solidFill>
                  <a:srgbClr val="1F1F1F"/>
                </a:solidFill>
                <a:latin typeface="Aptos"/>
              </a:rPr>
              <a:t>Objectives</a:t>
            </a:r>
            <a:endParaRPr sz="2800" b="1">
              <a:solidFill>
                <a:srgbClr val="1F1F1F"/>
              </a:solidFill>
              <a:latin typeface="Aptos"/>
            </a:endParaRPr>
          </a:p>
        </p:txBody>
      </p:sp>
      <p:sp>
        <p:nvSpPr>
          <p:cNvPr id="13" name="TextBox 12"/>
          <p:cNvSpPr txBox="1"/>
          <p:nvPr/>
        </p:nvSpPr>
        <p:spPr>
          <a:xfrm>
            <a:off x="1295400" y="1525270"/>
            <a:ext cx="9601200" cy="3807460"/>
          </a:xfrm>
          <a:prstGeom prst="rect">
            <a:avLst/>
          </a:prstGeom>
          <a:noFill/>
        </p:spPr>
        <p:txBody>
          <a:bodyPr wrap="square">
            <a:spAutoFit/>
          </a:bodyPr>
          <a:lstStyle/>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develop a document processing module using Python and PyMuPDF for uploading, validating, and extracting text and tabular information from documents.</a:t>
            </a:r>
            <a:endParaRPr lang="en-US" altLang="en-US" sz="1700">
              <a:solidFill>
                <a:srgbClr val="1F1F1F"/>
              </a:solidFill>
              <a:latin typeface="Arial" panose="020B0604020202020204" pitchFamily="34" charset="0"/>
              <a:cs typeface="Arial" panose="020B0604020202020204" pitchFamily="34" charset="0"/>
            </a:endParaRPr>
          </a:p>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generate semantic embeddings using Sentence Transformers and use FAISS (Facebook AI Similarity Search) for efficient vector indexing and similarity-based document retrieval.</a:t>
            </a:r>
            <a:endParaRPr lang="en-US" altLang="en-US" sz="1700">
              <a:solidFill>
                <a:srgbClr val="1F1F1F"/>
              </a:solidFill>
              <a:latin typeface="Arial" panose="020B0604020202020204" pitchFamily="34" charset="0"/>
              <a:cs typeface="Arial" panose="020B0604020202020204" pitchFamily="34" charset="0"/>
            </a:endParaRPr>
          </a:p>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design a query retrieval and reranking mechanism using LangChain to identify the most relevant document content for user queries.</a:t>
            </a:r>
            <a:endParaRPr lang="en-US" altLang="en-US" sz="1700">
              <a:solidFill>
                <a:srgbClr val="1F1F1F"/>
              </a:solidFill>
              <a:latin typeface="Arial" panose="020B0604020202020204" pitchFamily="34" charset="0"/>
              <a:cs typeface="Arial" panose="020B0604020202020204" pitchFamily="34" charset="0"/>
            </a:endParaRPr>
          </a:p>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implement a RAG-based question answering module using Llama 3 that will generate context-grounded responses with supporting source citations.</a:t>
            </a:r>
            <a:endParaRPr lang="en-US" altLang="en-US" sz="1700">
              <a:solidFill>
                <a:srgbClr val="1F1F1F"/>
              </a:solidFill>
              <a:latin typeface="Arial" panose="020B0604020202020204" pitchFamily="34" charset="0"/>
              <a:cs typeface="Arial" panose="020B0604020202020204" pitchFamily="34" charset="0"/>
            </a:endParaRPr>
          </a:p>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develop a document analytics module using Pandas for identifying significant patterns, trends, and relationships from extracted information, and use Plotly for visual representation.</a:t>
            </a:r>
            <a:endParaRPr lang="en-US" altLang="en-US" sz="1700">
              <a:solidFill>
                <a:srgbClr val="1F1F1F"/>
              </a:solidFill>
              <a:latin typeface="Arial" panose="020B0604020202020204" pitchFamily="34" charset="0"/>
              <a:cs typeface="Arial" panose="020B0604020202020204" pitchFamily="34" charset="0"/>
            </a:endParaRPr>
          </a:p>
          <a:p>
            <a:pPr marL="342900" indent="-342900" algn="l">
              <a:spcAft>
                <a:spcPts val="900"/>
              </a:spcAft>
              <a:buAutoNum type="arabicPeriod"/>
            </a:pPr>
            <a:r>
              <a:rPr lang="en-US" altLang="en-US" sz="1700">
                <a:solidFill>
                  <a:srgbClr val="1F1F1F"/>
                </a:solidFill>
                <a:latin typeface="Arial" panose="020B0604020202020204" pitchFamily="34" charset="0"/>
                <a:cs typeface="Arial" panose="020B0604020202020204" pitchFamily="34" charset="0"/>
              </a:rPr>
              <a:t>To evaluate the proposed system using RAGAS based on retrieval accuracy, answer relevance, faithfulness, citation quality, and analytical performance.</a:t>
            </a:r>
            <a:endParaRPr lang="en-US" altLang="en-US" sz="1700">
              <a:solidFill>
                <a:srgbClr val="1F1F1F"/>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1915" y="6254115"/>
            <a:ext cx="2743200" cy="365125"/>
          </a:xfrm>
        </p:spPr>
        <p:txBody>
          <a:bodyPr wrap="square"/>
          <a:lstStyle/>
          <a:p>
            <a:pPr algn="l"/>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graphicFrame>
        <p:nvGraphicFramePr>
          <p:cNvPr id="3" name="Table 2"/>
          <p:cNvGraphicFramePr/>
          <p:nvPr/>
        </p:nvGraphicFramePr>
        <p:xfrm>
          <a:off x="452755" y="1056005"/>
          <a:ext cx="11437620" cy="5283835"/>
        </p:xfrm>
        <a:graphic>
          <a:graphicData uri="http://schemas.openxmlformats.org/drawingml/2006/table">
            <a:tbl>
              <a:tblPr firstRow="1" bandRow="1">
                <a:tableStyleId>{5C22544A-7EE6-4342-B048-85BDC9FD1C3A}</a:tableStyleId>
              </a:tblPr>
              <a:tblGrid>
                <a:gridCol w="557530"/>
                <a:gridCol w="924560"/>
                <a:gridCol w="1059180"/>
                <a:gridCol w="1271270"/>
                <a:gridCol w="750570"/>
                <a:gridCol w="1155700"/>
                <a:gridCol w="953135"/>
                <a:gridCol w="750570"/>
                <a:gridCol w="972820"/>
                <a:gridCol w="971550"/>
                <a:gridCol w="1117600"/>
                <a:gridCol w="953135"/>
              </a:tblGrid>
              <a:tr h="364490">
                <a:tc>
                  <a:txBody>
                    <a:bodyPr/>
                    <a:p>
                      <a:pPr algn="ctr"/>
                      <a:r>
                        <a:rPr sz="1100">
                          <a:latin typeface="Arial" panose="020B0604020202020204" pitchFamily="34" charset="0"/>
                          <a:cs typeface="Arial" panose="020B0604020202020204" pitchFamily="34" charset="0"/>
                        </a:rPr>
                        <a:t>Sl.No</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Year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Authors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Paper Title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Source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Objective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Techniques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Dataset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Parameters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Inference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Research Gap</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DOI</a:t>
                      </a:r>
                      <a:endParaRPr sz="1100">
                        <a:latin typeface="Arial" panose="020B0604020202020204" pitchFamily="34" charset="0"/>
                        <a:cs typeface="Arial" panose="020B0604020202020204" pitchFamily="34" charset="0"/>
                      </a:endParaRPr>
                    </a:p>
                  </a:txBody>
                  <a:tcPr marL="0" marR="0" marT="0" marB="0" anchor="ctr" anchorCtr="0"/>
                </a:tc>
              </a:tr>
              <a:tr h="1005840">
                <a:tc>
                  <a:txBody>
                    <a:bodyPr/>
                    <a:p>
                      <a:pPr algn="ctr"/>
                      <a:r>
                        <a:rPr sz="1100">
                          <a:latin typeface="Arial" panose="020B0604020202020204" pitchFamily="34" charset="0"/>
                          <a:cs typeface="Arial" panose="020B0604020202020204" pitchFamily="34" charset="0"/>
                        </a:rPr>
                        <a:t>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2020</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Lewis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Retrieval-Augmented Generation for Knowledge-Intensive NLP Tasks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NeurIPS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knowledge-intensive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DPR, BART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KILT, NQ</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Accuracy, Factuality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improves grounded generation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document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10.48550/arXiv.2005.11401</a:t>
                      </a:r>
                      <a:endParaRPr sz="1100">
                        <a:latin typeface="Arial" panose="020B0604020202020204" pitchFamily="34" charset="0"/>
                        <a:cs typeface="Arial" panose="020B0604020202020204" pitchFamily="34" charset="0"/>
                      </a:endParaRPr>
                    </a:p>
                  </a:txBody>
                  <a:tcPr marL="0" marR="0" marT="0" marB="0" anchor="ctr" anchorCtr="0"/>
                </a:tc>
              </a:tr>
              <a:tr h="670560">
                <a:tc>
                  <a:txBody>
                    <a:bodyPr/>
                    <a:p>
                      <a:pPr algn="ctr"/>
                      <a:r>
                        <a:rPr sz="1100">
                          <a:latin typeface="Arial" panose="020B0604020202020204" pitchFamily="34" charset="0"/>
                          <a:cs typeface="Arial" panose="020B0604020202020204" pitchFamily="34" charset="0"/>
                        </a:rPr>
                        <a:t>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2020</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Karpukhin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Dense Passage Retrieval for Open-Domain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EMNLP</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passage retrieval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DPR, Dual Encoder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NQ, TriviaQA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 QA 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Dense retrieval improves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Retrieval-focused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10.18653/v1/2020.emnlp-main.550</a:t>
                      </a:r>
                      <a:endParaRPr sz="1100">
                        <a:latin typeface="Arial" panose="020B0604020202020204" pitchFamily="34" charset="0"/>
                        <a:cs typeface="Arial" panose="020B0604020202020204" pitchFamily="34" charset="0"/>
                      </a:endParaRPr>
                    </a:p>
                  </a:txBody>
                  <a:tcPr marL="0" marR="0" marT="0" marB="0" anchor="ctr" anchorCtr="0"/>
                </a:tc>
              </a:tr>
              <a:tr h="641985">
                <a:tc>
                  <a:txBody>
                    <a:bodyPr/>
                    <a:p>
                      <a:pPr algn="ctr"/>
                      <a:r>
                        <a:rPr sz="1100">
                          <a:latin typeface="Arial" panose="020B0604020202020204" pitchFamily="34" charset="0"/>
                          <a:cs typeface="Arial" panose="020B0604020202020204" pitchFamily="34" charset="0"/>
                        </a:rPr>
                        <a:t>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2020</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Beltagy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Longformer: The Long-Document Transformer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arXiv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Process long documents efficiently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Sparse Attention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WikiHop, TriviaQA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Context, Efficiency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Handles long contexts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RAG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10.48550/arXiv.2004.05150</a:t>
                      </a:r>
                      <a:endParaRPr sz="1100">
                        <a:latin typeface="Arial" panose="020B0604020202020204" pitchFamily="34" charset="0"/>
                        <a:cs typeface="Arial" panose="020B0604020202020204" pitchFamily="34" charset="0"/>
                      </a:endParaRPr>
                    </a:p>
                  </a:txBody>
                  <a:tcPr marL="0" marR="0" marT="0" marB="0" anchor="ctr" anchorCtr="0"/>
                </a:tc>
              </a:tr>
              <a:tr h="961390">
                <a:tc>
                  <a:txBody>
                    <a:bodyPr/>
                    <a:p>
                      <a:pPr algn="ctr"/>
                      <a:r>
                        <a:rPr sz="1100">
                          <a:latin typeface="Arial" panose="020B0604020202020204" pitchFamily="34" charset="0"/>
                          <a:cs typeface="Arial" panose="020B0604020202020204" pitchFamily="34" charset="0"/>
                        </a:rPr>
                        <a:t>4</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2020</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Xu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LayoutLM: Text and Layout for Document Image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KDD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document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Transformer, Layout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FUNSD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Extraction, Classification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Layout improves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conversational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10.1145/3394486.3403172</a:t>
                      </a:r>
                      <a:endParaRPr sz="1100">
                        <a:latin typeface="Arial" panose="020B0604020202020204" pitchFamily="34" charset="0"/>
                        <a:cs typeface="Arial" panose="020B0604020202020204" pitchFamily="34" charset="0"/>
                      </a:endParaRPr>
                    </a:p>
                  </a:txBody>
                  <a:tcPr marL="0" marR="0" marT="0" marB="0" anchor="ctr" anchorCtr="0"/>
                </a:tc>
              </a:tr>
              <a:tr h="838200">
                <a:tc>
                  <a:txBody>
                    <a:bodyPr/>
                    <a:p>
                      <a:pPr algn="ctr"/>
                      <a:r>
                        <a:rPr sz="1100">
                          <a:latin typeface="Arial" panose="020B0604020202020204" pitchFamily="34" charset="0"/>
                          <a:cs typeface="Arial" panose="020B0604020202020204" pitchFamily="34" charset="0"/>
                        </a:rPr>
                        <a:t>5</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Izacard &amp; Grave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Leveraging Passage Retrieval with Generative Models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EACL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open-domain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FiD, Retrieval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NQ, TriviaQA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QA 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Multiple passages improve answers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document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10.18653/v1/2021.eacl-main.74</a:t>
                      </a:r>
                      <a:endParaRPr sz="1100">
                        <a:latin typeface="Arial" panose="020B0604020202020204" pitchFamily="34" charset="0"/>
                        <a:cs typeface="Arial" panose="020B0604020202020204" pitchFamily="34" charset="0"/>
                      </a:endParaRPr>
                    </a:p>
                  </a:txBody>
                  <a:tcPr marL="0" marR="0" marT="0" marB="0" anchor="ctr" anchorCtr="0"/>
                </a:tc>
              </a:tr>
              <a:tr h="801370">
                <a:tc>
                  <a:txBody>
                    <a:bodyPr/>
                    <a:p>
                      <a:pPr algn="ctr"/>
                      <a:r>
                        <a:rPr sz="1100">
                          <a:latin typeface="Arial" panose="020B0604020202020204" pitchFamily="34" charset="0"/>
                          <a:cs typeface="Arial" panose="020B0604020202020204" pitchFamily="34" charset="0"/>
                        </a:rPr>
                        <a:t>6</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Mathew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DocVQA: Dataset for VQA on Document Images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WACV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QA over document images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VQA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DocVQA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QA 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Visual structure aids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pattern discovery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t>
                      </a:r>
                      <a:endParaRPr sz="1100">
                        <a:latin typeface="Arial" panose="020B0604020202020204" pitchFamily="34" charset="0"/>
                        <a:cs typeface="Arial" panose="020B0604020202020204" pitchFamily="34" charset="0"/>
                      </a:endParaRPr>
                    </a:p>
                  </a:txBody>
                  <a:tcPr marL="0" marR="0" marT="0" marB="0" anchor="ctr" anchorCtr="0"/>
                </a:tc>
              </a:tr>
            </a:tbl>
          </a:graphicData>
        </a:graphic>
      </p:graphicFrame>
      <p:sp>
        <p:nvSpPr>
          <p:cNvPr id="6" name="Text Box 5"/>
          <p:cNvSpPr txBox="1"/>
          <p:nvPr/>
        </p:nvSpPr>
        <p:spPr>
          <a:xfrm>
            <a:off x="3123565" y="351790"/>
            <a:ext cx="6096000" cy="521970"/>
          </a:xfrm>
          <a:prstGeom prst="rect">
            <a:avLst/>
          </a:prstGeom>
          <a:noFill/>
        </p:spPr>
        <p:txBody>
          <a:bodyPr wrap="square" rtlCol="0" anchor="t">
            <a:spAutoFit/>
          </a:bodyPr>
          <a:p>
            <a:pPr algn="ctr"/>
            <a:r>
              <a:rPr sz="2800" b="1">
                <a:solidFill>
                  <a:srgbClr val="1F1F1F"/>
                </a:solidFill>
                <a:latin typeface="Aptos"/>
                <a:sym typeface="+mn-ea"/>
              </a:rPr>
              <a:t>Literature Survey</a:t>
            </a:r>
            <a:endParaRPr lang="en-US" sz="2800" b="1">
              <a:solidFill>
                <a:srgbClr val="1F1F1F"/>
              </a:solidFill>
              <a:latin typeface="Apto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1915" y="6254115"/>
            <a:ext cx="2743200" cy="365125"/>
          </a:xfrm>
        </p:spPr>
        <p:txBody>
          <a:bodyPr wrap="square"/>
          <a:lstStyle/>
          <a:p>
            <a:pPr algn="l"/>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graphicFrame>
        <p:nvGraphicFramePr>
          <p:cNvPr id="3" name="Table 2"/>
          <p:cNvGraphicFramePr/>
          <p:nvPr/>
        </p:nvGraphicFramePr>
        <p:xfrm>
          <a:off x="452755" y="1056005"/>
          <a:ext cx="11437620" cy="5283835"/>
        </p:xfrm>
        <a:graphic>
          <a:graphicData uri="http://schemas.openxmlformats.org/drawingml/2006/table">
            <a:tbl>
              <a:tblPr firstRow="1" bandRow="1">
                <a:tableStyleId>{5C22544A-7EE6-4342-B048-85BDC9FD1C3A}</a:tableStyleId>
              </a:tblPr>
              <a:tblGrid>
                <a:gridCol w="557530"/>
                <a:gridCol w="615950"/>
                <a:gridCol w="1029970"/>
                <a:gridCol w="1609090"/>
                <a:gridCol w="750570"/>
                <a:gridCol w="1155700"/>
                <a:gridCol w="847090"/>
                <a:gridCol w="856615"/>
                <a:gridCol w="972820"/>
                <a:gridCol w="971550"/>
                <a:gridCol w="1117600"/>
                <a:gridCol w="953135"/>
              </a:tblGrid>
              <a:tr h="364490">
                <a:tc>
                  <a:txBody>
                    <a:bodyPr/>
                    <a:p>
                      <a:pPr algn="ctr"/>
                      <a:r>
                        <a:rPr sz="1100">
                          <a:latin typeface="Arial" panose="020B0604020202020204" pitchFamily="34" charset="0"/>
                          <a:cs typeface="Arial" panose="020B0604020202020204" pitchFamily="34" charset="0"/>
                        </a:rPr>
                        <a:t>Sl.No</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Year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Authors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Paper Title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Source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Objective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Techniques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Dataset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Parameters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Inference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Research Gap</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DOI</a:t>
                      </a:r>
                      <a:endParaRPr sz="1100">
                        <a:latin typeface="Arial" panose="020B0604020202020204" pitchFamily="34" charset="0"/>
                        <a:cs typeface="Arial" panose="020B0604020202020204" pitchFamily="34" charset="0"/>
                      </a:endParaRPr>
                    </a:p>
                  </a:txBody>
                  <a:tcPr marL="0" marR="0" marT="0" marB="0" anchor="ctr" anchorCtr="0"/>
                </a:tc>
              </a:tr>
              <a:tr h="1005840">
                <a:tc>
                  <a:txBody>
                    <a:bodyPr/>
                    <a:p>
                      <a:pPr algn="ctr"/>
                      <a:r>
                        <a:rPr sz="1100">
                          <a:latin typeface="Arial" panose="020B0604020202020204" pitchFamily="34" charset="0"/>
                          <a:cs typeface="Arial" panose="020B0604020202020204" pitchFamily="34" charset="0"/>
                        </a:rPr>
                        <a:t>7</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Appalaraju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DocFormer: End-to-End Transformer for Document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ICCV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visual document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Multimodal Transformer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FUNSD, CORD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Extraction, VQA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Multimodal features improve results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RAG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t>
                      </a:r>
                      <a:endParaRPr sz="1100">
                        <a:latin typeface="Arial" panose="020B0604020202020204" pitchFamily="34" charset="0"/>
                        <a:cs typeface="Arial" panose="020B0604020202020204" pitchFamily="34" charset="0"/>
                      </a:endParaRPr>
                    </a:p>
                  </a:txBody>
                  <a:tcPr marL="0" marR="0" marT="0" marB="0" anchor="ctr" anchorCtr="0"/>
                </a:tc>
              </a:tr>
              <a:tr h="670560">
                <a:tc>
                  <a:txBody>
                    <a:bodyPr/>
                    <a:p>
                      <a:pPr algn="ctr"/>
                      <a:r>
                        <a:rPr sz="1100">
                          <a:latin typeface="Arial" panose="020B0604020202020204" pitchFamily="34" charset="0"/>
                          <a:cs typeface="Arial" panose="020B0604020202020204" pitchFamily="34" charset="0"/>
                        </a:rPr>
                        <a:t>8</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Mao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Generation-Augmented Retrieval for Open-Domain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retrieval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GAR, BM25, DPR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NQ, TriviaQA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Generated context improves retrieval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document analysis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10.18653/v1/2021.acl-long.316</a:t>
                      </a:r>
                      <a:endParaRPr sz="1100">
                        <a:latin typeface="Arial" panose="020B0604020202020204" pitchFamily="34" charset="0"/>
                        <a:cs typeface="Arial" panose="020B0604020202020204" pitchFamily="34" charset="0"/>
                      </a:endParaRPr>
                    </a:p>
                  </a:txBody>
                  <a:tcPr marL="0" marR="0" marT="0" marB="0" anchor="ctr" anchorCtr="0"/>
                </a:tc>
              </a:tr>
              <a:tr h="641985">
                <a:tc>
                  <a:txBody>
                    <a:bodyPr/>
                    <a:p>
                      <a:pPr algn="ctr"/>
                      <a:r>
                        <a:rPr sz="1100">
                          <a:latin typeface="Arial" panose="020B0604020202020204" pitchFamily="34" charset="0"/>
                          <a:cs typeface="Arial" panose="020B0604020202020204" pitchFamily="34" charset="0"/>
                        </a:rPr>
                        <a:t>9</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Kim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OCR-Free Document Understanding Transformer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ECCV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Understand documents without OCR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Donut, Transformer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CORD, DocVQA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Accuracy, Speed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Reduces OCR limitations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RAG integration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10.1007/978-3-031-19815-1_29</a:t>
                      </a:r>
                      <a:endParaRPr sz="1100">
                        <a:latin typeface="Arial" panose="020B0604020202020204" pitchFamily="34" charset="0"/>
                        <a:cs typeface="Arial" panose="020B0604020202020204" pitchFamily="34" charset="0"/>
                      </a:endParaRPr>
                    </a:p>
                  </a:txBody>
                  <a:tcPr marL="0" marR="0" marT="0" marB="0" anchor="ctr" anchorCtr="0"/>
                </a:tc>
              </a:tr>
              <a:tr h="961390">
                <a:tc>
                  <a:txBody>
                    <a:bodyPr/>
                    <a:p>
                      <a:pPr algn="ctr"/>
                      <a:r>
                        <a:rPr sz="1100">
                          <a:latin typeface="Arial" panose="020B0604020202020204" pitchFamily="34" charset="0"/>
                          <a:cs typeface="Arial" panose="020B0604020202020204" pitchFamily="34" charset="0"/>
                        </a:rPr>
                        <a:t>10</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Huang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LayoutLMv3: Pre-training for Document AI</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ACM MM</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multimodal document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Multimodal Transformer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FUNSD, CORD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VQA, Extraction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Text-image learning improves results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analytics module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10.1145/3503161.3548112</a:t>
                      </a:r>
                      <a:endParaRPr sz="1100">
                        <a:latin typeface="Arial" panose="020B0604020202020204" pitchFamily="34" charset="0"/>
                        <a:cs typeface="Arial" panose="020B0604020202020204" pitchFamily="34" charset="0"/>
                      </a:endParaRPr>
                    </a:p>
                  </a:txBody>
                  <a:tcPr marL="0" marR="0" marT="0" marB="0" anchor="ctr" anchorCtr="0"/>
                </a:tc>
              </a:tr>
              <a:tr h="838200">
                <a:tc>
                  <a:txBody>
                    <a:bodyPr/>
                    <a:p>
                      <a:pPr algn="ctr"/>
                      <a:r>
                        <a:rPr sz="1100">
                          <a:latin typeface="Arial" panose="020B0604020202020204" pitchFamily="34" charset="0"/>
                          <a:cs typeface="Arial" panose="020B0604020202020204" pitchFamily="34" charset="0"/>
                        </a:rPr>
                        <a:t>11</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Masry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ChartQA: QA about Charts with Visual and Logical Reasoning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ACL Findings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Enable chart reasoning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Visual + Logical Reasoning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ChartQA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QA, Reasoning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Supports chart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Separate from RAG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10.18653/v1/2022.findings-acl.177</a:t>
                      </a:r>
                      <a:endParaRPr sz="1100">
                        <a:latin typeface="Arial" panose="020B0604020202020204" pitchFamily="34" charset="0"/>
                        <a:cs typeface="Arial" panose="020B0604020202020204" pitchFamily="34" charset="0"/>
                      </a:endParaRPr>
                    </a:p>
                  </a:txBody>
                  <a:tcPr marL="0" marR="0" marT="0" marB="0" anchor="ctr" anchorCtr="0"/>
                </a:tc>
              </a:tr>
              <a:tr h="801370">
                <a:tc>
                  <a:txBody>
                    <a:bodyPr/>
                    <a:p>
                      <a:pPr algn="ctr"/>
                      <a:r>
                        <a:rPr sz="1100">
                          <a:latin typeface="Arial" panose="020B0604020202020204" pitchFamily="34" charset="0"/>
                          <a:cs typeface="Arial" panose="020B0604020202020204" pitchFamily="34" charset="0"/>
                        </a:rPr>
                        <a:t>12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2022</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Xu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XFUND: Multilingual Visually Rich Form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ACL Findings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multilingual forms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LayoutXLM</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XFUND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Extraction, 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Layout aids multilingual understanding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general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10.18653/v1/2022.findings-acl.253</a:t>
                      </a:r>
                      <a:endParaRPr sz="1100">
                        <a:latin typeface="Arial" panose="020B0604020202020204" pitchFamily="34" charset="0"/>
                        <a:cs typeface="Arial" panose="020B0604020202020204" pitchFamily="34" charset="0"/>
                      </a:endParaRPr>
                    </a:p>
                  </a:txBody>
                  <a:tcPr marL="0" marR="0" marT="0" marB="0" anchor="ctr" anchorCtr="0"/>
                </a:tc>
              </a:tr>
            </a:tbl>
          </a:graphicData>
        </a:graphic>
      </p:graphicFrame>
      <p:sp>
        <p:nvSpPr>
          <p:cNvPr id="6" name="Text Box 5"/>
          <p:cNvSpPr txBox="1"/>
          <p:nvPr/>
        </p:nvSpPr>
        <p:spPr>
          <a:xfrm>
            <a:off x="3123565" y="351790"/>
            <a:ext cx="6096000" cy="521970"/>
          </a:xfrm>
          <a:prstGeom prst="rect">
            <a:avLst/>
          </a:prstGeom>
          <a:noFill/>
        </p:spPr>
        <p:txBody>
          <a:bodyPr wrap="square" rtlCol="0" anchor="t">
            <a:spAutoFit/>
          </a:bodyPr>
          <a:p>
            <a:pPr algn="ctr"/>
            <a:r>
              <a:rPr sz="2800" b="1">
                <a:solidFill>
                  <a:srgbClr val="1F1F1F"/>
                </a:solidFill>
                <a:latin typeface="Aptos"/>
                <a:sym typeface="+mn-ea"/>
              </a:rPr>
              <a:t>Literature Survey</a:t>
            </a:r>
            <a:endParaRPr lang="en-US" sz="2800" b="1">
              <a:solidFill>
                <a:srgbClr val="1F1F1F"/>
              </a:solidFill>
              <a:latin typeface="Aptos"/>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81915" y="6254115"/>
            <a:ext cx="2743200" cy="365125"/>
          </a:xfrm>
        </p:spPr>
        <p:txBody>
          <a:bodyPr wrap="square"/>
          <a:lstStyle/>
          <a:p>
            <a:pPr algn="l"/>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graphicFrame>
        <p:nvGraphicFramePr>
          <p:cNvPr id="3" name="Table 2"/>
          <p:cNvGraphicFramePr/>
          <p:nvPr/>
        </p:nvGraphicFramePr>
        <p:xfrm>
          <a:off x="424180" y="1056005"/>
          <a:ext cx="11466195" cy="5283835"/>
        </p:xfrm>
        <a:graphic>
          <a:graphicData uri="http://schemas.openxmlformats.org/drawingml/2006/table">
            <a:tbl>
              <a:tblPr firstRow="1" bandRow="1">
                <a:tableStyleId>{5C22544A-7EE6-4342-B048-85BDC9FD1C3A}</a:tableStyleId>
              </a:tblPr>
              <a:tblGrid>
                <a:gridCol w="586105"/>
                <a:gridCol w="615950"/>
                <a:gridCol w="1078230"/>
                <a:gridCol w="1560830"/>
                <a:gridCol w="490220"/>
                <a:gridCol w="1252220"/>
                <a:gridCol w="1116965"/>
                <a:gridCol w="750570"/>
                <a:gridCol w="972820"/>
                <a:gridCol w="971550"/>
                <a:gridCol w="1117600"/>
                <a:gridCol w="953135"/>
              </a:tblGrid>
              <a:tr h="364490">
                <a:tc>
                  <a:txBody>
                    <a:bodyPr/>
                    <a:p>
                      <a:pPr algn="ctr"/>
                      <a:r>
                        <a:rPr sz="1100">
                          <a:latin typeface="Arial" panose="020B0604020202020204" pitchFamily="34" charset="0"/>
                          <a:cs typeface="Arial" panose="020B0604020202020204" pitchFamily="34" charset="0"/>
                        </a:rPr>
                        <a:t>Sl.No</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Year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Authors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Paper Title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Source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Objective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Techniques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Dataset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Parameters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Inference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Research Gap</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DOI</a:t>
                      </a:r>
                      <a:endParaRPr sz="1100">
                        <a:latin typeface="Arial" panose="020B0604020202020204" pitchFamily="34" charset="0"/>
                        <a:cs typeface="Arial" panose="020B0604020202020204" pitchFamily="34" charset="0"/>
                      </a:endParaRPr>
                    </a:p>
                  </a:txBody>
                  <a:tcPr marL="0" marR="0" marT="0" marB="0" anchor="ctr" anchorCtr="0"/>
                </a:tc>
              </a:tr>
              <a:tr h="1005840">
                <a:tc>
                  <a:txBody>
                    <a:bodyPr/>
                    <a:p>
                      <a:pPr algn="ctr"/>
                      <a:r>
                        <a:rPr sz="1100">
                          <a:latin typeface="Arial" panose="020B0604020202020204" pitchFamily="34" charset="0"/>
                          <a:cs typeface="Arial" panose="020B0604020202020204" pitchFamily="34" charset="0"/>
                        </a:rPr>
                        <a:t>13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Izacard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Atlas: Few-shot Learning with Retrieval Augmented LMs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JMLR</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few-shot learning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Retrieval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MMLU, KILT</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supports few-shot tasks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Index quality dependency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t>
                      </a:r>
                      <a:endParaRPr sz="1100">
                        <a:latin typeface="Arial" panose="020B0604020202020204" pitchFamily="34" charset="0"/>
                        <a:cs typeface="Arial" panose="020B0604020202020204" pitchFamily="34" charset="0"/>
                      </a:endParaRPr>
                    </a:p>
                  </a:txBody>
                  <a:tcPr marL="0" marR="0" marT="0" marB="0" anchor="ctr" anchorCtr="0"/>
                </a:tc>
              </a:tr>
              <a:tr h="670560">
                <a:tc>
                  <a:txBody>
                    <a:bodyPr/>
                    <a:p>
                      <a:pPr algn="ctr"/>
                      <a:r>
                        <a:rPr sz="1100">
                          <a:latin typeface="Arial" panose="020B0604020202020204" pitchFamily="34" charset="0"/>
                          <a:cs typeface="Arial" panose="020B0604020202020204" pitchFamily="34" charset="0"/>
                        </a:rPr>
                        <a:t>14</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Asai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Self-RAG: Retrieve, Generate and Critique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arXiv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 RAG reliability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Self-RAG, Reflection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PopQA, TriviaQA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Factuality, QA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Reflection improves responses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Complex; no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10.48550/arXiv.2310.11511</a:t>
                      </a:r>
                      <a:endParaRPr sz="1100">
                        <a:latin typeface="Arial" panose="020B0604020202020204" pitchFamily="34" charset="0"/>
                        <a:cs typeface="Arial" panose="020B0604020202020204" pitchFamily="34" charset="0"/>
                      </a:endParaRPr>
                    </a:p>
                  </a:txBody>
                  <a:tcPr marL="0" marR="0" marT="0" marB="0" anchor="ctr" anchorCtr="0"/>
                </a:tc>
              </a:tr>
              <a:tr h="641985">
                <a:tc>
                  <a:txBody>
                    <a:bodyPr/>
                    <a:p>
                      <a:pPr algn="ctr"/>
                      <a:r>
                        <a:rPr sz="1100">
                          <a:latin typeface="Arial" panose="020B0604020202020204" pitchFamily="34" charset="0"/>
                          <a:cs typeface="Arial" panose="020B0604020202020204" pitchFamily="34" charset="0"/>
                        </a:rPr>
                        <a:t>15</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Es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RAGAS: Automated Evaluation of RAG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arXiv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Evaluate RAG systems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RAGAS Metrics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datasets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Relevance, Faithfulness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Enables RAG evaluation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No document analytics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10.48550/arXiv.2309.15217</a:t>
                      </a:r>
                      <a:endParaRPr sz="1100">
                        <a:latin typeface="Arial" panose="020B0604020202020204" pitchFamily="34" charset="0"/>
                        <a:cs typeface="Arial" panose="020B0604020202020204" pitchFamily="34" charset="0"/>
                      </a:endParaRPr>
                    </a:p>
                  </a:txBody>
                  <a:tcPr marL="0" marR="0" marT="0" marB="0" anchor="ctr" anchorCtr="0"/>
                </a:tc>
              </a:tr>
              <a:tr h="961390">
                <a:tc>
                  <a:txBody>
                    <a:bodyPr/>
                    <a:p>
                      <a:pPr algn="ctr"/>
                      <a:r>
                        <a:rPr sz="1100">
                          <a:latin typeface="Arial" panose="020B0604020202020204" pitchFamily="34" charset="0"/>
                          <a:cs typeface="Arial" panose="020B0604020202020204" pitchFamily="34" charset="0"/>
                        </a:rPr>
                        <a:t>16</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2023</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Gao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Retrieval-Augmented Generation for LLMs: A Survey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arXiv</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Survey RAG methods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Naive, Advanced, Modular RAG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Multiple benchmarks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Retrieval, Generation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Identifies RAG challenges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Application integration needed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10.48550/arXiv.2312.10997</a:t>
                      </a:r>
                      <a:endParaRPr sz="1100">
                        <a:latin typeface="Arial" panose="020B0604020202020204" pitchFamily="34" charset="0"/>
                        <a:cs typeface="Arial" panose="020B0604020202020204" pitchFamily="34" charset="0"/>
                      </a:endParaRPr>
                    </a:p>
                  </a:txBody>
                  <a:tcPr marL="0" marR="0" marT="0" marB="0" anchor="ctr" anchorCtr="0"/>
                </a:tc>
              </a:tr>
              <a:tr h="838200">
                <a:tc>
                  <a:txBody>
                    <a:bodyPr/>
                    <a:p>
                      <a:pPr algn="ctr"/>
                      <a:r>
                        <a:rPr sz="1100">
                          <a:latin typeface="Arial" panose="020B0604020202020204" pitchFamily="34" charset="0"/>
                          <a:cs typeface="Arial" panose="020B0604020202020204" pitchFamily="34" charset="0"/>
                        </a:rPr>
                        <a:t>17</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2024</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Niu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RAGTruth: A Hallucination Corpus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ACL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Study RAG hallucination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Hallucination Detection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RAGTruth</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Hallucination rate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RAG may generate unsupported claims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Stronger verification needed</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10.18653/v1/2024.acl-long.585</a:t>
                      </a:r>
                      <a:endParaRPr sz="1100">
                        <a:latin typeface="Arial" panose="020B0604020202020204" pitchFamily="34" charset="0"/>
                        <a:cs typeface="Arial" panose="020B0604020202020204" pitchFamily="34" charset="0"/>
                      </a:endParaRPr>
                    </a:p>
                  </a:txBody>
                  <a:tcPr marL="0" marR="0" marT="0" marB="0" anchor="ctr" anchorCtr="0"/>
                </a:tc>
              </a:tr>
              <a:tr h="801370">
                <a:tc>
                  <a:txBody>
                    <a:bodyPr/>
                    <a:p>
                      <a:pPr algn="ctr"/>
                      <a:r>
                        <a:rPr sz="1100">
                          <a:latin typeface="Arial" panose="020B0604020202020204" pitchFamily="34" charset="0"/>
                          <a:cs typeface="Arial" panose="020B0604020202020204" pitchFamily="34" charset="0"/>
                        </a:rPr>
                        <a:t>18</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2024</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Saad-Falcon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ARES: Automated Evaluation Framework for RAG</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NAACL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Automate RAG evaluation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LM Judges, Synthetic Data</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KILT, SuperGLUE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Relevance, Faithfulness</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Enables systematic evaluation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Focuses on evaluation only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10.18653/v1/2024.naacl-long.20</a:t>
                      </a:r>
                      <a:endParaRPr sz="1100">
                        <a:latin typeface="Arial" panose="020B0604020202020204" pitchFamily="34" charset="0"/>
                        <a:cs typeface="Arial" panose="020B0604020202020204" pitchFamily="34" charset="0"/>
                      </a:endParaRPr>
                    </a:p>
                  </a:txBody>
                  <a:tcPr marL="0" marR="0" marT="0" marB="0" anchor="ctr" anchorCtr="0"/>
                </a:tc>
              </a:tr>
            </a:tbl>
          </a:graphicData>
        </a:graphic>
      </p:graphicFrame>
      <p:sp>
        <p:nvSpPr>
          <p:cNvPr id="6" name="Text Box 5"/>
          <p:cNvSpPr txBox="1"/>
          <p:nvPr/>
        </p:nvSpPr>
        <p:spPr>
          <a:xfrm>
            <a:off x="3123565" y="351790"/>
            <a:ext cx="6096000" cy="521970"/>
          </a:xfrm>
          <a:prstGeom prst="rect">
            <a:avLst/>
          </a:prstGeom>
          <a:noFill/>
        </p:spPr>
        <p:txBody>
          <a:bodyPr wrap="square" rtlCol="0" anchor="t">
            <a:spAutoFit/>
          </a:bodyPr>
          <a:p>
            <a:pPr algn="ctr"/>
            <a:r>
              <a:rPr sz="2800" b="1">
                <a:solidFill>
                  <a:srgbClr val="1F1F1F"/>
                </a:solidFill>
                <a:latin typeface="Aptos"/>
                <a:sym typeface="+mn-ea"/>
              </a:rPr>
              <a:t>Literature Survey</a:t>
            </a:r>
            <a:endParaRPr lang="en-US" sz="2800" b="1">
              <a:solidFill>
                <a:srgbClr val="1F1F1F"/>
              </a:solidFill>
              <a:latin typeface="Apto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0" y="6492875"/>
            <a:ext cx="2743200" cy="365125"/>
          </a:xfrm>
        </p:spPr>
        <p:txBody>
          <a:bodyPr wrap="square"/>
          <a:lstStyle/>
          <a:p>
            <a:pPr algn="l"/>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158240" y="411480"/>
            <a:ext cx="9875520" cy="521970"/>
          </a:xfrm>
          <a:prstGeom prst="rect">
            <a:avLst/>
          </a:prstGeom>
          <a:noFill/>
        </p:spPr>
        <p:txBody>
          <a:bodyPr wrap="square">
            <a:spAutoFit/>
          </a:bodyPr>
          <a:lstStyle/>
          <a:p>
            <a:pPr algn="ctr"/>
            <a:r>
              <a:rPr sz="2800" b="1">
                <a:solidFill>
                  <a:srgbClr val="1F1F1F"/>
                </a:solidFill>
                <a:latin typeface="Aptos"/>
              </a:rPr>
              <a:t>Research Gap Identification</a:t>
            </a:r>
            <a:endParaRPr sz="2800" b="1">
              <a:solidFill>
                <a:srgbClr val="1F1F1F"/>
              </a:solidFill>
              <a:latin typeface="Aptos"/>
            </a:endParaRPr>
          </a:p>
        </p:txBody>
      </p:sp>
      <p:graphicFrame>
        <p:nvGraphicFramePr>
          <p:cNvPr id="13" name="Table 12"/>
          <p:cNvGraphicFramePr>
            <a:graphicFrameLocks noGrp="1"/>
          </p:cNvGraphicFramePr>
          <p:nvPr>
            <p:custDataLst>
              <p:tags r:id="rId2"/>
            </p:custDataLst>
          </p:nvPr>
        </p:nvGraphicFramePr>
        <p:xfrm>
          <a:off x="579755" y="1133475"/>
          <a:ext cx="11144885" cy="5234940"/>
        </p:xfrm>
        <a:graphic>
          <a:graphicData uri="http://schemas.openxmlformats.org/drawingml/2006/table">
            <a:tbl>
              <a:tblPr firstRow="1" bandRow="1">
                <a:tableStyleId>{5C22544A-7EE6-4342-B048-85BDC9FD1C3A}</a:tableStyleId>
              </a:tblPr>
              <a:tblGrid>
                <a:gridCol w="493395"/>
                <a:gridCol w="1515745"/>
                <a:gridCol w="1516380"/>
                <a:gridCol w="2009140"/>
                <a:gridCol w="2805430"/>
                <a:gridCol w="2804795"/>
              </a:tblGrid>
              <a:tr h="872490">
                <a:tc>
                  <a:txBody>
                    <a:bodyPr/>
                    <a:lstStyle/>
                    <a:p>
                      <a:pPr algn="ctr"/>
                      <a:r>
                        <a:rPr sz="1100">
                          <a:latin typeface="Arial" panose="020B0604020202020204" pitchFamily="34" charset="0"/>
                          <a:cs typeface="Arial" panose="020B0604020202020204" pitchFamily="34" charset="0"/>
                        </a:rPr>
                        <a:t>S.No.</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Paper Title</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Author Name(s)</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Methodology / Model Used</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Key Findings</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p>
                      <a:pPr algn="ctr"/>
                      <a:r>
                        <a:rPr sz="1100">
                          <a:latin typeface="Arial" panose="020B0604020202020204" pitchFamily="34" charset="0"/>
                          <a:cs typeface="Arial" panose="020B0604020202020204" pitchFamily="34" charset="0"/>
                        </a:rPr>
                        <a:t>Research Gap Identified</a:t>
                      </a:r>
                      <a:endParaRPr sz="1100">
                        <a:latin typeface="Arial" panose="020B0604020202020204" pitchFamily="34" charset="0"/>
                        <a:cs typeface="Arial" panose="020B0604020202020204" pitchFamily="34" charset="0"/>
                      </a:endParaRPr>
                    </a:p>
                  </a:txBody>
                  <a:tcPr marL="0" marR="0" marT="0" marB="0" anchor="ctr" anchorCtr="0"/>
                </a:tc>
              </a:tr>
              <a:tr h="872490">
                <a:tc>
                  <a:txBody>
                    <a:bodyPr/>
                    <a:lstStyle/>
                    <a:p>
                      <a:pPr algn="ctr"/>
                      <a:r>
                        <a:rPr sz="1100">
                          <a:latin typeface="Arial" panose="020B0604020202020204" pitchFamily="34" charset="0"/>
                          <a:cs typeface="Arial" panose="020B0604020202020204" pitchFamily="34" charset="0"/>
                        </a:rPr>
                        <a:t>1</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Retrieval-Augmented Generation for Knowledge-Intensive NLP Tasks</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Patrick Lewis et al.</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RAG</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Retrieval improves knowledge-grounded generation</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p>
                      <a:pPr algn="ctr"/>
                      <a:r>
                        <a:rPr sz="1100">
                          <a:latin typeface="Arial" panose="020B0604020202020204" pitchFamily="34" charset="0"/>
                          <a:cs typeface="Arial" panose="020B0604020202020204" pitchFamily="34" charset="0"/>
                        </a:rPr>
                        <a:t>Mainly focuses on knowledge-intensive NLP tasks; integrated document analytics is not addressed</a:t>
                      </a:r>
                      <a:endParaRPr sz="1100">
                        <a:latin typeface="Arial" panose="020B0604020202020204" pitchFamily="34" charset="0"/>
                        <a:cs typeface="Arial" panose="020B0604020202020204" pitchFamily="34" charset="0"/>
                      </a:endParaRPr>
                    </a:p>
                  </a:txBody>
                  <a:tcPr marL="0" marR="0" marT="0" marB="0" anchor="ctr" anchorCtr="0"/>
                </a:tc>
              </a:tr>
              <a:tr h="872490">
                <a:tc>
                  <a:txBody>
                    <a:bodyPr/>
                    <a:lstStyle/>
                    <a:p>
                      <a:pPr algn="ctr"/>
                      <a:r>
                        <a:rPr sz="1100">
                          <a:latin typeface="Arial" panose="020B0604020202020204" pitchFamily="34" charset="0"/>
                          <a:cs typeface="Arial" panose="020B0604020202020204" pitchFamily="34" charset="0"/>
                        </a:rPr>
                        <a:t>2</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Dense Passage Retrieval for Open-Domain Question Answering</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Vladimir Karpukhin et al.</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Dense Passage Retrieval</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Dense retrieval improves relevant passage selection</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p>
                      <a:pPr algn="ctr"/>
                      <a:r>
                        <a:rPr sz="1100">
                          <a:latin typeface="Arial" panose="020B0604020202020204" pitchFamily="34" charset="0"/>
                          <a:cs typeface="Arial" panose="020B0604020202020204" pitchFamily="34" charset="0"/>
                        </a:rPr>
                        <a:t>Focuses on retrieval rather than complete document analysis</a:t>
                      </a:r>
                      <a:endParaRPr sz="1100">
                        <a:latin typeface="Arial" panose="020B0604020202020204" pitchFamily="34" charset="0"/>
                        <a:cs typeface="Arial" panose="020B0604020202020204" pitchFamily="34" charset="0"/>
                      </a:endParaRPr>
                    </a:p>
                  </a:txBody>
                  <a:tcPr marL="0" marR="0" marT="0" marB="0" anchor="ctr" anchorCtr="0"/>
                </a:tc>
              </a:tr>
              <a:tr h="872490">
                <a:tc>
                  <a:txBody>
                    <a:bodyPr/>
                    <a:lstStyle/>
                    <a:p>
                      <a:pPr algn="ctr"/>
                      <a:r>
                        <a:rPr sz="1100">
                          <a:latin typeface="Arial" panose="020B0604020202020204" pitchFamily="34" charset="0"/>
                          <a:cs typeface="Arial" panose="020B0604020202020204" pitchFamily="34" charset="0"/>
                        </a:rPr>
                        <a:t>3</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LayoutLM: Pre-training of Text and Layout for Document Image Understanding</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Yiheng Xu et al.</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Transformer + Text/Layout/Image</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Combining layout and text improves document understanding</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p>
                      <a:pPr algn="ctr"/>
                      <a:r>
                        <a:rPr sz="1100">
                          <a:latin typeface="Arial" panose="020B0604020202020204" pitchFamily="34" charset="0"/>
                          <a:cs typeface="Arial" panose="020B0604020202020204" pitchFamily="34" charset="0"/>
                        </a:rPr>
                        <a:t>Focuses on document structure rather than conversational RAG analytics</a:t>
                      </a:r>
                      <a:endParaRPr sz="1100">
                        <a:latin typeface="Arial" panose="020B0604020202020204" pitchFamily="34" charset="0"/>
                        <a:cs typeface="Arial" panose="020B0604020202020204" pitchFamily="34" charset="0"/>
                      </a:endParaRPr>
                    </a:p>
                  </a:txBody>
                  <a:tcPr marL="0" marR="0" marT="0" marB="0" anchor="ctr" anchorCtr="0"/>
                </a:tc>
              </a:tr>
              <a:tr h="872490">
                <a:tc>
                  <a:txBody>
                    <a:bodyPr/>
                    <a:lstStyle/>
                    <a:p>
                      <a:pPr algn="ctr"/>
                      <a:r>
                        <a:rPr sz="1100">
                          <a:latin typeface="Arial" panose="020B0604020202020204" pitchFamily="34" charset="0"/>
                          <a:cs typeface="Arial" panose="020B0604020202020204" pitchFamily="34" charset="0"/>
                        </a:rPr>
                        <a:t>4</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ChartQA: A Benchmark for Question Answering about Charts</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Ahmed Masry et al.</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Visual + Logical Reasoning</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Enables reasoning over charts and numerical information</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p>
                      <a:pPr algn="ctr"/>
                      <a:r>
                        <a:rPr sz="1100">
                          <a:latin typeface="Arial" panose="020B0604020202020204" pitchFamily="34" charset="0"/>
                          <a:cs typeface="Arial" panose="020B0604020202020204" pitchFamily="34" charset="0"/>
                        </a:rPr>
                        <a:t>Chart reasoning is studied separately from document-level RAG</a:t>
                      </a:r>
                      <a:endParaRPr sz="1100">
                        <a:latin typeface="Arial" panose="020B0604020202020204" pitchFamily="34" charset="0"/>
                        <a:cs typeface="Arial" panose="020B0604020202020204" pitchFamily="34" charset="0"/>
                      </a:endParaRPr>
                    </a:p>
                  </a:txBody>
                  <a:tcPr marL="0" marR="0" marT="0" marB="0" anchor="ctr" anchorCtr="0"/>
                </a:tc>
              </a:tr>
              <a:tr h="872490">
                <a:tc>
                  <a:txBody>
                    <a:bodyPr/>
                    <a:p>
                      <a:pPr algn="ctr"/>
                      <a:r>
                        <a:rPr sz="1100">
                          <a:latin typeface="Arial" panose="020B0604020202020204" pitchFamily="34" charset="0"/>
                          <a:cs typeface="Arial" panose="020B0604020202020204" pitchFamily="34" charset="0"/>
                        </a:rPr>
                        <a:t>5</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Self-RAG: Learning to Retrieve, Generate, and Critique</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Akari Asai et al.</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Adaptive Retrieval + Self-Reflection</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Improves factuality and citation accuracy</a:t>
                      </a:r>
                      <a:endParaRPr sz="1100">
                        <a:latin typeface="Arial" panose="020B0604020202020204" pitchFamily="34" charset="0"/>
                        <a:cs typeface="Arial" panose="020B0604020202020204" pitchFamily="34" charset="0"/>
                      </a:endParaRPr>
                    </a:p>
                  </a:txBody>
                  <a:tcPr marL="0" marR="0" marT="0" marB="0" anchor="ctr" anchorCtr="0"/>
                </a:tc>
                <a:tc>
                  <a:txBody>
                    <a:bodyPr/>
                    <a:p>
                      <a:pPr algn="ctr"/>
                      <a:r>
                        <a:rPr sz="1100">
                          <a:latin typeface="Arial" panose="020B0604020202020204" pitchFamily="34" charset="0"/>
                          <a:cs typeface="Arial" panose="020B0604020202020204" pitchFamily="34" charset="0"/>
                        </a:rPr>
                        <a:t>More complex architecture and does not integrate document analytics</a:t>
                      </a:r>
                      <a:endParaRPr sz="1100">
                        <a:latin typeface="Arial" panose="020B0604020202020204" pitchFamily="34" charset="0"/>
                        <a:cs typeface="Arial" panose="020B0604020202020204" pitchFamily="34" charset="0"/>
                      </a:endParaRPr>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10490" y="6225540"/>
            <a:ext cx="2743200" cy="365125"/>
          </a:xfrm>
        </p:spPr>
        <p:txBody>
          <a:bodyPr wrap="square"/>
          <a:lstStyle/>
          <a:p>
            <a:pPr algn="l"/>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005840" y="484505"/>
            <a:ext cx="9875520" cy="521970"/>
          </a:xfrm>
          <a:prstGeom prst="rect">
            <a:avLst/>
          </a:prstGeom>
          <a:noFill/>
        </p:spPr>
        <p:txBody>
          <a:bodyPr wrap="square">
            <a:spAutoFit/>
          </a:bodyPr>
          <a:lstStyle/>
          <a:p>
            <a:pPr algn="ctr"/>
            <a:r>
              <a:rPr sz="2800" b="1">
                <a:solidFill>
                  <a:srgbClr val="1F1F1F"/>
                </a:solidFill>
                <a:latin typeface="Aptos"/>
              </a:rPr>
              <a:t>Innovation, Creativity, and Novelty</a:t>
            </a:r>
            <a:endParaRPr sz="2800" b="1">
              <a:solidFill>
                <a:srgbClr val="1F1F1F"/>
              </a:solidFill>
              <a:latin typeface="Aptos"/>
            </a:endParaRPr>
          </a:p>
        </p:txBody>
      </p:sp>
      <p:sp>
        <p:nvSpPr>
          <p:cNvPr id="13" name="Rounded Rectangle 12"/>
          <p:cNvSpPr/>
          <p:nvPr/>
        </p:nvSpPr>
        <p:spPr>
          <a:xfrm>
            <a:off x="1518920" y="1243965"/>
            <a:ext cx="8961120" cy="475488"/>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1F1F"/>
                </a:solidFill>
                <a:latin typeface="Arial" panose="020B0604020202020204" pitchFamily="34" charset="0"/>
                <a:cs typeface="Arial" panose="020B0604020202020204" pitchFamily="34" charset="0"/>
              </a:rPr>
              <a:t>INNOVATION</a:t>
            </a:r>
            <a:endParaRPr sz="1500" b="1">
              <a:solidFill>
                <a:srgbClr val="1F1F1F"/>
              </a:solidFill>
              <a:latin typeface="Arial" panose="020B0604020202020204" pitchFamily="34" charset="0"/>
              <a:cs typeface="Arial" panose="020B0604020202020204" pitchFamily="34" charset="0"/>
            </a:endParaRPr>
          </a:p>
        </p:txBody>
      </p:sp>
      <p:sp>
        <p:nvSpPr>
          <p:cNvPr id="14" name="TextBox 13"/>
          <p:cNvSpPr txBox="1"/>
          <p:nvPr/>
        </p:nvSpPr>
        <p:spPr>
          <a:xfrm>
            <a:off x="1292225" y="1791335"/>
            <a:ext cx="8961120" cy="664845"/>
          </a:xfrm>
          <a:prstGeom prst="rect">
            <a:avLst/>
          </a:prstGeom>
          <a:noFill/>
        </p:spPr>
        <p:txBody>
          <a:bodyPr wrap="square">
            <a:noAutofit/>
          </a:bodyPr>
          <a:lstStyle/>
          <a:p>
            <a:pPr algn="l"/>
            <a:r>
              <a:rPr lang="en-US" altLang="en-US" sz="1400" b="0">
                <a:solidFill>
                  <a:srgbClr val="1F1F1F"/>
                </a:solidFill>
                <a:latin typeface="Arial" panose="020B0604020202020204" pitchFamily="34" charset="0"/>
                <a:cs typeface="Arial" panose="020B0604020202020204" pitchFamily="34" charset="0"/>
              </a:rPr>
              <a:t>Proposed integration of RAG and document analytics.</a:t>
            </a:r>
            <a:endParaRPr lang="en-US" altLang="en-US" sz="1400" b="0">
              <a:solidFill>
                <a:srgbClr val="1F1F1F"/>
              </a:solidFill>
              <a:latin typeface="Arial" panose="020B0604020202020204" pitchFamily="34" charset="0"/>
              <a:cs typeface="Arial" panose="020B0604020202020204" pitchFamily="34" charset="0"/>
            </a:endParaRPr>
          </a:p>
          <a:p>
            <a:pPr algn="l"/>
            <a:r>
              <a:rPr lang="en-US" altLang="en-US" sz="1400" b="0">
                <a:solidFill>
                  <a:srgbClr val="1F1F1F"/>
                </a:solidFill>
                <a:latin typeface="Arial" panose="020B0604020202020204" pitchFamily="34" charset="0"/>
                <a:cs typeface="Arial" panose="020B0604020202020204" pitchFamily="34" charset="0"/>
              </a:rPr>
              <a:t>Semantic retrieval for document-based queries.</a:t>
            </a:r>
            <a:endParaRPr lang="en-US" altLang="en-US" sz="1400" b="0">
              <a:solidFill>
                <a:srgbClr val="1F1F1F"/>
              </a:solidFill>
              <a:latin typeface="Arial" panose="020B0604020202020204" pitchFamily="34" charset="0"/>
              <a:cs typeface="Arial" panose="020B0604020202020204" pitchFamily="34" charset="0"/>
            </a:endParaRPr>
          </a:p>
          <a:p>
            <a:pPr algn="l"/>
            <a:r>
              <a:rPr lang="en-US" altLang="en-US" sz="1400" b="0">
                <a:solidFill>
                  <a:srgbClr val="1F1F1F"/>
                </a:solidFill>
                <a:latin typeface="Arial" panose="020B0604020202020204" pitchFamily="34" charset="0"/>
                <a:cs typeface="Arial" panose="020B0604020202020204" pitchFamily="34" charset="0"/>
              </a:rPr>
              <a:t>Planned analytical insight generation.</a:t>
            </a:r>
            <a:endParaRPr lang="en-US" altLang="en-US" sz="1400" b="0">
              <a:solidFill>
                <a:srgbClr val="1F1F1F"/>
              </a:solidFill>
              <a:latin typeface="Arial" panose="020B0604020202020204" pitchFamily="34" charset="0"/>
              <a:cs typeface="Arial" panose="020B0604020202020204" pitchFamily="34" charset="0"/>
            </a:endParaRPr>
          </a:p>
        </p:txBody>
      </p:sp>
      <p:sp>
        <p:nvSpPr>
          <p:cNvPr id="15" name="Rounded Rectangle 14"/>
          <p:cNvSpPr/>
          <p:nvPr/>
        </p:nvSpPr>
        <p:spPr>
          <a:xfrm>
            <a:off x="1518920" y="2679065"/>
            <a:ext cx="8961120" cy="475488"/>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1F1F"/>
                </a:solidFill>
                <a:latin typeface="Arial" panose="020B0604020202020204" pitchFamily="34" charset="0"/>
                <a:cs typeface="Arial" panose="020B0604020202020204" pitchFamily="34" charset="0"/>
              </a:rPr>
              <a:t>CREATIVITY</a:t>
            </a:r>
            <a:endParaRPr sz="1500" b="1">
              <a:solidFill>
                <a:srgbClr val="1F1F1F"/>
              </a:solidFill>
              <a:latin typeface="Arial" panose="020B0604020202020204" pitchFamily="34" charset="0"/>
              <a:cs typeface="Arial" panose="020B0604020202020204" pitchFamily="34" charset="0"/>
            </a:endParaRPr>
          </a:p>
        </p:txBody>
      </p:sp>
      <p:sp>
        <p:nvSpPr>
          <p:cNvPr id="16" name="TextBox 15"/>
          <p:cNvSpPr txBox="1"/>
          <p:nvPr/>
        </p:nvSpPr>
        <p:spPr>
          <a:xfrm>
            <a:off x="1292225" y="3377565"/>
            <a:ext cx="8961120" cy="595630"/>
          </a:xfrm>
          <a:prstGeom prst="rect">
            <a:avLst/>
          </a:prstGeom>
          <a:noFill/>
        </p:spPr>
        <p:txBody>
          <a:bodyPr wrap="square">
            <a:noAutofit/>
          </a:bodyPr>
          <a:lstStyle/>
          <a:p>
            <a:pPr algn="l"/>
            <a:r>
              <a:rPr lang="en-US" altLang="en-US" sz="1400" b="0">
                <a:solidFill>
                  <a:schemeClr val="tx1"/>
                </a:solidFill>
                <a:latin typeface="Arial" panose="020B0604020202020204" pitchFamily="34" charset="0"/>
                <a:cs typeface="Arial" panose="020B0604020202020204" pitchFamily="34" charset="0"/>
              </a:rPr>
              <a:t>Combining document interaction, QA and analytics in one platform.</a:t>
            </a:r>
            <a:endParaRPr lang="en-US" altLang="en-US" sz="1400" b="0">
              <a:solidFill>
                <a:schemeClr val="tx1"/>
              </a:solidFill>
              <a:latin typeface="Arial" panose="020B0604020202020204" pitchFamily="34" charset="0"/>
              <a:cs typeface="Arial" panose="020B0604020202020204" pitchFamily="34" charset="0"/>
            </a:endParaRPr>
          </a:p>
          <a:p>
            <a:pPr algn="l"/>
            <a:r>
              <a:rPr lang="en-US" altLang="en-US" sz="1400" b="0">
                <a:solidFill>
                  <a:schemeClr val="tx1"/>
                </a:solidFill>
                <a:latin typeface="Arial" panose="020B0604020202020204" pitchFamily="34" charset="0"/>
                <a:cs typeface="Arial" panose="020B0604020202020204" pitchFamily="34" charset="0"/>
              </a:rPr>
              <a:t>Planned automatic pattern and visualization generation.</a:t>
            </a:r>
            <a:endParaRPr lang="en-US" altLang="en-US" sz="1400" b="0">
              <a:solidFill>
                <a:schemeClr val="tx1"/>
              </a:solidFill>
              <a:latin typeface="Arial" panose="020B0604020202020204" pitchFamily="34" charset="0"/>
              <a:cs typeface="Arial" panose="020B0604020202020204" pitchFamily="34" charset="0"/>
            </a:endParaRPr>
          </a:p>
        </p:txBody>
      </p:sp>
      <p:sp>
        <p:nvSpPr>
          <p:cNvPr id="17" name="Rounded Rectangle 16"/>
          <p:cNvSpPr/>
          <p:nvPr/>
        </p:nvSpPr>
        <p:spPr>
          <a:xfrm>
            <a:off x="1518920" y="4196080"/>
            <a:ext cx="8961120" cy="475488"/>
          </a:xfrm>
          <a:prstGeom prst="roundRect">
            <a:avLst/>
          </a:prstGeom>
          <a:solidFill>
            <a:srgbClr val="4472C4"/>
          </a:solidFill>
          <a:ln>
            <a:solidFill>
              <a:srgbClr val="4472C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F1F1F"/>
                </a:solidFill>
                <a:latin typeface="Arial" panose="020B0604020202020204" pitchFamily="34" charset="0"/>
                <a:cs typeface="Arial" panose="020B0604020202020204" pitchFamily="34" charset="0"/>
              </a:rPr>
              <a:t>NOVELTY</a:t>
            </a:r>
            <a:endParaRPr sz="1500" b="1">
              <a:solidFill>
                <a:srgbClr val="1F1F1F"/>
              </a:solidFill>
              <a:latin typeface="Arial" panose="020B0604020202020204" pitchFamily="34" charset="0"/>
              <a:cs typeface="Arial" panose="020B0604020202020204" pitchFamily="34" charset="0"/>
            </a:endParaRPr>
          </a:p>
        </p:txBody>
      </p:sp>
      <p:sp>
        <p:nvSpPr>
          <p:cNvPr id="18" name="TextBox 17"/>
          <p:cNvSpPr txBox="1"/>
          <p:nvPr/>
        </p:nvSpPr>
        <p:spPr>
          <a:xfrm>
            <a:off x="1398905" y="4893945"/>
            <a:ext cx="8734425" cy="861060"/>
          </a:xfrm>
          <a:prstGeom prst="rect">
            <a:avLst/>
          </a:prstGeom>
          <a:noFill/>
        </p:spPr>
        <p:txBody>
          <a:bodyPr wrap="square">
            <a:noAutofit/>
          </a:bodyPr>
          <a:lstStyle/>
          <a:p>
            <a:pPr algn="l"/>
            <a:r>
              <a:rPr lang="en-US" altLang="en-US" sz="1400" b="0">
                <a:solidFill>
                  <a:srgbClr val="1F1F1F"/>
                </a:solidFill>
                <a:latin typeface="Arial" panose="020B0604020202020204" pitchFamily="34" charset="0"/>
                <a:cs typeface="Arial" panose="020B0604020202020204" pitchFamily="34" charset="0"/>
              </a:rPr>
              <a:t>Proposed integration of retrieval + QA + analytics + visualization.</a:t>
            </a:r>
            <a:endParaRPr lang="en-US" altLang="en-US" sz="1400" b="0">
              <a:solidFill>
                <a:srgbClr val="1F1F1F"/>
              </a:solidFill>
              <a:latin typeface="Arial" panose="020B0604020202020204" pitchFamily="34" charset="0"/>
              <a:cs typeface="Arial" panose="020B0604020202020204" pitchFamily="34" charset="0"/>
            </a:endParaRPr>
          </a:p>
          <a:p>
            <a:pPr algn="l"/>
            <a:r>
              <a:rPr lang="en-US" altLang="en-US" sz="1400" b="0">
                <a:solidFill>
                  <a:srgbClr val="1F1F1F"/>
                </a:solidFill>
                <a:latin typeface="Arial" panose="020B0604020202020204" pitchFamily="34" charset="0"/>
                <a:cs typeface="Arial" panose="020B0604020202020204" pitchFamily="34" charset="0"/>
              </a:rPr>
              <a:t>Addresses the identified gap between document QA and document analytics.</a:t>
            </a:r>
            <a:endParaRPr lang="en-US" altLang="en-US" sz="1400" b="0">
              <a:solidFill>
                <a:srgbClr val="1F1F1F"/>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158240" y="493395"/>
            <a:ext cx="9875520" cy="521970"/>
          </a:xfrm>
          <a:prstGeom prst="rect">
            <a:avLst/>
          </a:prstGeom>
          <a:noFill/>
        </p:spPr>
        <p:txBody>
          <a:bodyPr wrap="square">
            <a:spAutoFit/>
          </a:bodyPr>
          <a:lstStyle/>
          <a:p>
            <a:pPr algn="ctr"/>
            <a:r>
              <a:rPr sz="2800" b="1">
                <a:solidFill>
                  <a:srgbClr val="1F1F1F"/>
                </a:solidFill>
                <a:latin typeface="Aptos"/>
              </a:rPr>
              <a:t>Feasibility and Project Plan</a:t>
            </a:r>
            <a:endParaRPr sz="2800" b="1">
              <a:solidFill>
                <a:srgbClr val="1F1F1F"/>
              </a:solidFill>
              <a:latin typeface="Aptos"/>
            </a:endParaRPr>
          </a:p>
        </p:txBody>
      </p:sp>
      <p:graphicFrame>
        <p:nvGraphicFramePr>
          <p:cNvPr id="14" name="Table 13"/>
          <p:cNvGraphicFramePr>
            <a:graphicFrameLocks noGrp="1"/>
          </p:cNvGraphicFramePr>
          <p:nvPr>
            <p:custDataLst>
              <p:tags r:id="rId2"/>
            </p:custDataLst>
          </p:nvPr>
        </p:nvGraphicFramePr>
        <p:xfrm>
          <a:off x="3474720" y="1430020"/>
          <a:ext cx="5029200" cy="4450080"/>
        </p:xfrm>
        <a:graphic>
          <a:graphicData uri="http://schemas.openxmlformats.org/drawingml/2006/table">
            <a:tbl>
              <a:tblPr firstRow="1" bandRow="1">
                <a:tableStyleId>{5C22544A-7EE6-4342-B048-85BDC9FD1C3A}</a:tableStyleId>
              </a:tblPr>
              <a:tblGrid>
                <a:gridCol w="2514600"/>
                <a:gridCol w="2514600"/>
              </a:tblGrid>
              <a:tr h="370840">
                <a:tc>
                  <a:txBody>
                    <a:bodyPr/>
                    <a:lstStyle/>
                    <a:p>
                      <a:pPr algn="ctr"/>
                      <a:r>
                        <a:rPr sz="1100"/>
                        <a:t>Category</a:t>
                      </a:r>
                      <a:endParaRPr sz="1100"/>
                    </a:p>
                  </a:txBody>
                  <a:tcPr marL="0" marR="0" marT="0" marB="0" anchor="ctr" anchorCtr="0">
                    <a:solidFill>
                      <a:srgbClr val="4472C4"/>
                    </a:solidFill>
                  </a:tcPr>
                </a:tc>
                <a:tc>
                  <a:txBody>
                    <a:bodyPr/>
                    <a:lstStyle/>
                    <a:p>
                      <a:pPr algn="ctr"/>
                      <a:r>
                        <a:rPr sz="1100"/>
                        <a:t>Proposed Resource</a:t>
                      </a:r>
                      <a:endParaRPr sz="1100"/>
                    </a:p>
                  </a:txBody>
                  <a:tcPr marL="0" marR="0" marT="0" marB="0" anchor="ctr" anchorCtr="0">
                    <a:solidFill>
                      <a:srgbClr val="4472C4"/>
                    </a:solidFill>
                  </a:tcPr>
                </a:tc>
              </a:tr>
              <a:tr h="370840">
                <a:tc>
                  <a:txBody>
                    <a:bodyPr/>
                    <a:lstStyle/>
                    <a:p>
                      <a:pPr algn="ctr"/>
                      <a:r>
                        <a:rPr sz="1100"/>
                        <a:t>Programming</a:t>
                      </a:r>
                      <a:endParaRPr sz="1100"/>
                    </a:p>
                  </a:txBody>
                  <a:tcPr marL="0" marR="0" marT="0" marB="0" anchor="ctr" anchorCtr="0">
                    <a:solidFill>
                      <a:srgbClr val="FFFFFF"/>
                    </a:solidFill>
                  </a:tcPr>
                </a:tc>
                <a:tc>
                  <a:txBody>
                    <a:bodyPr/>
                    <a:lstStyle/>
                    <a:p>
                      <a:pPr algn="ctr"/>
                      <a:r>
                        <a:rPr sz="1100"/>
                        <a:t>Python</a:t>
                      </a:r>
                      <a:endParaRPr sz="1100"/>
                    </a:p>
                  </a:txBody>
                  <a:tcPr marL="0" marR="0" marT="0" marB="0" anchor="ctr" anchorCtr="0">
                    <a:solidFill>
                      <a:srgbClr val="FFFFFF"/>
                    </a:solidFill>
                  </a:tcPr>
                </a:tc>
              </a:tr>
              <a:tr h="370840">
                <a:tc>
                  <a:txBody>
                    <a:bodyPr/>
                    <a:lstStyle/>
                    <a:p>
                      <a:pPr algn="ctr"/>
                      <a:r>
                        <a:rPr sz="1100"/>
                        <a:t>Document Processing</a:t>
                      </a:r>
                      <a:endParaRPr sz="1100"/>
                    </a:p>
                  </a:txBody>
                  <a:tcPr marL="0" marR="0" marT="0" marB="0" anchor="ctr" anchorCtr="0">
                    <a:solidFill>
                      <a:srgbClr val="DDE5F1"/>
                    </a:solidFill>
                  </a:tcPr>
                </a:tc>
                <a:tc>
                  <a:txBody>
                    <a:bodyPr/>
                    <a:lstStyle/>
                    <a:p>
                      <a:pPr algn="ctr"/>
                      <a:r>
                        <a:rPr sz="1100"/>
                        <a:t>PyMuPDF</a:t>
                      </a:r>
                      <a:endParaRPr sz="1100"/>
                    </a:p>
                  </a:txBody>
                  <a:tcPr marL="0" marR="0" marT="0" marB="0" anchor="ctr" anchorCtr="0">
                    <a:solidFill>
                      <a:srgbClr val="DDE5F1"/>
                    </a:solidFill>
                  </a:tcPr>
                </a:tc>
              </a:tr>
              <a:tr h="370840">
                <a:tc>
                  <a:txBody>
                    <a:bodyPr/>
                    <a:lstStyle/>
                    <a:p>
                      <a:pPr algn="ctr"/>
                      <a:r>
                        <a:rPr sz="1100"/>
                        <a:t>NLP &amp; Embeddings</a:t>
                      </a:r>
                      <a:endParaRPr sz="1100"/>
                    </a:p>
                  </a:txBody>
                  <a:tcPr marL="0" marR="0" marT="0" marB="0" anchor="ctr" anchorCtr="0">
                    <a:solidFill>
                      <a:srgbClr val="FFFFFF"/>
                    </a:solidFill>
                  </a:tcPr>
                </a:tc>
                <a:tc>
                  <a:txBody>
                    <a:bodyPr/>
                    <a:lstStyle/>
                    <a:p>
                      <a:pPr algn="ctr"/>
                      <a:r>
                        <a:rPr sz="1100"/>
                        <a:t>Sentence Transformers</a:t>
                      </a:r>
                      <a:endParaRPr sz="1100"/>
                    </a:p>
                  </a:txBody>
                  <a:tcPr marL="0" marR="0" marT="0" marB="0" anchor="ctr" anchorCtr="0">
                    <a:solidFill>
                      <a:srgbClr val="FFFFFF"/>
                    </a:solidFill>
                  </a:tcPr>
                </a:tc>
              </a:tr>
              <a:tr h="370840">
                <a:tc>
                  <a:txBody>
                    <a:bodyPr/>
                    <a:lstStyle/>
                    <a:p>
                      <a:pPr algn="ctr"/>
                      <a:r>
                        <a:rPr sz="1100"/>
                        <a:t>Vector Search</a:t>
                      </a:r>
                      <a:endParaRPr sz="1100"/>
                    </a:p>
                  </a:txBody>
                  <a:tcPr marL="0" marR="0" marT="0" marB="0" anchor="ctr" anchorCtr="0">
                    <a:solidFill>
                      <a:srgbClr val="DDE5F1"/>
                    </a:solidFill>
                  </a:tcPr>
                </a:tc>
                <a:tc>
                  <a:txBody>
                    <a:bodyPr/>
                    <a:lstStyle/>
                    <a:p>
                      <a:pPr algn="ctr"/>
                      <a:r>
                        <a:rPr sz="1100"/>
                        <a:t>FAISS (Facebook AI Similarity Search)</a:t>
                      </a:r>
                      <a:endParaRPr sz="1100"/>
                    </a:p>
                  </a:txBody>
                  <a:tcPr marL="0" marR="0" marT="0" marB="0" anchor="ctr" anchorCtr="0">
                    <a:solidFill>
                      <a:srgbClr val="DDE5F1"/>
                    </a:solidFill>
                  </a:tcPr>
                </a:tc>
              </a:tr>
              <a:tr h="370840">
                <a:tc>
                  <a:txBody>
                    <a:bodyPr/>
                    <a:lstStyle/>
                    <a:p>
                      <a:pPr algn="ctr"/>
                      <a:r>
                        <a:rPr sz="1100"/>
                        <a:t>RAG Framework</a:t>
                      </a:r>
                      <a:endParaRPr sz="1100"/>
                    </a:p>
                  </a:txBody>
                  <a:tcPr marL="0" marR="0" marT="0" marB="0" anchor="ctr" anchorCtr="0">
                    <a:solidFill>
                      <a:srgbClr val="FFFFFF"/>
                    </a:solidFill>
                  </a:tcPr>
                </a:tc>
                <a:tc>
                  <a:txBody>
                    <a:bodyPr/>
                    <a:lstStyle/>
                    <a:p>
                      <a:pPr algn="ctr"/>
                      <a:r>
                        <a:rPr sz="1100"/>
                        <a:t>LangChain</a:t>
                      </a:r>
                      <a:endParaRPr sz="1100"/>
                    </a:p>
                  </a:txBody>
                  <a:tcPr marL="0" marR="0" marT="0" marB="0" anchor="ctr" anchorCtr="0">
                    <a:solidFill>
                      <a:srgbClr val="FFFFFF"/>
                    </a:solidFill>
                  </a:tcPr>
                </a:tc>
              </a:tr>
              <a:tr h="370840">
                <a:tc>
                  <a:txBody>
                    <a:bodyPr/>
                    <a:lstStyle/>
                    <a:p>
                      <a:pPr algn="ctr"/>
                      <a:r>
                        <a:rPr sz="1100"/>
                        <a:t>Large Language Model</a:t>
                      </a:r>
                      <a:endParaRPr sz="1100"/>
                    </a:p>
                  </a:txBody>
                  <a:tcPr marL="0" marR="0" marT="0" marB="0" anchor="ctr" anchorCtr="0">
                    <a:solidFill>
                      <a:srgbClr val="DDE5F1"/>
                    </a:solidFill>
                  </a:tcPr>
                </a:tc>
                <a:tc>
                  <a:txBody>
                    <a:bodyPr/>
                    <a:lstStyle/>
                    <a:p>
                      <a:pPr algn="ctr"/>
                      <a:r>
                        <a:rPr sz="1100"/>
                        <a:t>Llama 3</a:t>
                      </a:r>
                      <a:endParaRPr sz="1100"/>
                    </a:p>
                  </a:txBody>
                  <a:tcPr marL="0" marR="0" marT="0" marB="0" anchor="ctr" anchorCtr="0">
                    <a:solidFill>
                      <a:srgbClr val="DDE5F1"/>
                    </a:solidFill>
                  </a:tcPr>
                </a:tc>
              </a:tr>
              <a:tr h="370840">
                <a:tc>
                  <a:txBody>
                    <a:bodyPr/>
                    <a:lstStyle/>
                    <a:p>
                      <a:pPr algn="ctr"/>
                      <a:r>
                        <a:rPr sz="1100"/>
                        <a:t>Data Analy</a:t>
                      </a:r>
                      <a:r>
                        <a:rPr lang="en-US" sz="1100"/>
                        <a:t>sis</a:t>
                      </a:r>
                      <a:endParaRPr lang="en-US" sz="1100"/>
                    </a:p>
                  </a:txBody>
                  <a:tcPr marL="0" marR="0" marT="0" marB="0" anchor="ctr" anchorCtr="0">
                    <a:solidFill>
                      <a:srgbClr val="FFFFFF"/>
                    </a:solidFill>
                  </a:tcPr>
                </a:tc>
                <a:tc>
                  <a:txBody>
                    <a:bodyPr/>
                    <a:lstStyle/>
                    <a:p>
                      <a:pPr algn="ctr"/>
                      <a:r>
                        <a:rPr sz="1100"/>
                        <a:t>Pandas</a:t>
                      </a:r>
                      <a:endParaRPr sz="1100"/>
                    </a:p>
                  </a:txBody>
                  <a:tcPr marL="0" marR="0" marT="0" marB="0" anchor="ctr" anchorCtr="0">
                    <a:solidFill>
                      <a:srgbClr val="FFFFFF"/>
                    </a:solidFill>
                  </a:tcPr>
                </a:tc>
              </a:tr>
              <a:tr h="370840">
                <a:tc>
                  <a:txBody>
                    <a:bodyPr/>
                    <a:p>
                      <a:pPr algn="ctr"/>
                      <a:r>
                        <a:rPr sz="1100"/>
                        <a:t>Data Visualization</a:t>
                      </a:r>
                      <a:endParaRPr sz="1100"/>
                    </a:p>
                  </a:txBody>
                  <a:tcPr marL="0" marR="0" marT="0" marB="0" anchor="ctr" anchorCtr="0"/>
                </a:tc>
                <a:tc>
                  <a:txBody>
                    <a:bodyPr/>
                    <a:p>
                      <a:pPr algn="ctr"/>
                      <a:r>
                        <a:rPr sz="1100"/>
                        <a:t>Plotly</a:t>
                      </a:r>
                      <a:endParaRPr sz="1100"/>
                    </a:p>
                  </a:txBody>
                  <a:tcPr marL="0" marR="0" marT="0" marB="0" anchor="ctr" anchorCtr="0"/>
                </a:tc>
              </a:tr>
              <a:tr h="370840">
                <a:tc>
                  <a:txBody>
                    <a:bodyPr/>
                    <a:p>
                      <a:pPr algn="ctr"/>
                      <a:r>
                        <a:rPr sz="1100"/>
                        <a:t>Web Application</a:t>
                      </a:r>
                      <a:endParaRPr sz="1100"/>
                    </a:p>
                  </a:txBody>
                  <a:tcPr marL="0" marR="0" marT="0" marB="0" anchor="ctr" anchorCtr="0"/>
                </a:tc>
                <a:tc>
                  <a:txBody>
                    <a:bodyPr/>
                    <a:p>
                      <a:pPr algn="ctr"/>
                      <a:r>
                        <a:rPr sz="1100"/>
                        <a:t>Streamlit</a:t>
                      </a:r>
                      <a:endParaRPr sz="1100"/>
                    </a:p>
                  </a:txBody>
                  <a:tcPr marL="0" marR="0" marT="0" marB="0" anchor="ctr" anchorCtr="0"/>
                </a:tc>
              </a:tr>
              <a:tr h="370840">
                <a:tc>
                  <a:txBody>
                    <a:bodyPr/>
                    <a:p>
                      <a:pPr algn="ctr"/>
                      <a:r>
                        <a:rPr sz="1100"/>
                        <a:t>RAG Evaluation</a:t>
                      </a:r>
                      <a:endParaRPr sz="1100"/>
                    </a:p>
                  </a:txBody>
                  <a:tcPr marL="0" marR="0" marT="0" marB="0" anchor="ctr" anchorCtr="0"/>
                </a:tc>
                <a:tc>
                  <a:txBody>
                    <a:bodyPr/>
                    <a:p>
                      <a:pPr algn="ctr"/>
                      <a:r>
                        <a:rPr sz="1100"/>
                        <a:t>RAGAS (Retrieval Augmented Generation Assessment)</a:t>
                      </a:r>
                      <a:endParaRPr sz="1100"/>
                    </a:p>
                  </a:txBody>
                  <a:tcPr marL="0" marR="0" marT="0" marB="0" anchor="ctr" anchorCtr="0"/>
                </a:tc>
              </a:tr>
              <a:tr h="370840">
                <a:tc>
                  <a:txBody>
                    <a:bodyPr/>
                    <a:p>
                      <a:pPr algn="ctr"/>
                      <a:r>
                        <a:rPr sz="1100"/>
                        <a:t>Version Control</a:t>
                      </a:r>
                      <a:endParaRPr sz="1100"/>
                    </a:p>
                  </a:txBody>
                  <a:tcPr marL="0" marR="0" marT="0" marB="0" anchor="ctr" anchorCtr="0"/>
                </a:tc>
                <a:tc>
                  <a:txBody>
                    <a:bodyPr/>
                    <a:p>
                      <a:pPr algn="ctr"/>
                      <a:r>
                        <a:rPr sz="1100"/>
                        <a:t>GitHub</a:t>
                      </a:r>
                      <a:endParaRPr sz="11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wrap="square"/>
          <a:lstStyle/>
          <a:p>
            <a:pPr algn="l"/>
            <a:r>
              <a:rPr sz="900" b="0">
                <a:solidFill>
                  <a:srgbClr val="646464"/>
                </a:solidFill>
                <a:latin typeface="Aptos"/>
              </a:rPr>
              <a:t>07/09/2026</a:t>
            </a:r>
            <a:endParaRPr lang="en-US"/>
          </a:p>
        </p:txBody>
      </p:sp>
      <p:sp>
        <p:nvSpPr>
          <p:cNvPr id="5" name="Footer Placeholder 4"/>
          <p:cNvSpPr>
            <a:spLocks noGrp="1"/>
          </p:cNvSpPr>
          <p:nvPr>
            <p:ph type="ftr" sz="quarter" idx="11"/>
          </p:nvPr>
        </p:nvSpPr>
        <p:spPr/>
        <p:txBody>
          <a:bodyPr wrap="square"/>
          <a:lstStyle/>
          <a:p>
            <a:pPr algn="ctr"/>
            <a:r>
              <a:rPr sz="900" b="0">
                <a:solidFill>
                  <a:srgbClr val="646464"/>
                </a:solidFill>
                <a:latin typeface="Aptos"/>
              </a:rPr>
              <a:t>PRC-I</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7" name="TextBox 6"/>
          <p:cNvSpPr txBox="1"/>
          <p:nvPr/>
        </p:nvSpPr>
        <p:spPr>
          <a:xfrm>
            <a:off x="1252855" y="512445"/>
            <a:ext cx="9875520" cy="521970"/>
          </a:xfrm>
          <a:prstGeom prst="rect">
            <a:avLst/>
          </a:prstGeom>
          <a:noFill/>
        </p:spPr>
        <p:txBody>
          <a:bodyPr wrap="square">
            <a:spAutoFit/>
          </a:bodyPr>
          <a:lstStyle/>
          <a:p>
            <a:pPr algn="ctr"/>
            <a:r>
              <a:rPr sz="2800" b="1">
                <a:solidFill>
                  <a:srgbClr val="1F1F1F"/>
                </a:solidFill>
                <a:latin typeface="Aptos"/>
              </a:rPr>
              <a:t>Project Timeline</a:t>
            </a:r>
            <a:endParaRPr sz="2800" b="1">
              <a:solidFill>
                <a:srgbClr val="1F1F1F"/>
              </a:solidFill>
              <a:latin typeface="Aptos"/>
            </a:endParaRPr>
          </a:p>
        </p:txBody>
      </p:sp>
      <p:graphicFrame>
        <p:nvGraphicFramePr>
          <p:cNvPr id="8" name="Table 7"/>
          <p:cNvGraphicFramePr>
            <a:graphicFrameLocks noGrp="1"/>
          </p:cNvGraphicFramePr>
          <p:nvPr/>
        </p:nvGraphicFramePr>
        <p:xfrm>
          <a:off x="1252855" y="1318260"/>
          <a:ext cx="9784080" cy="5029200"/>
        </p:xfrm>
        <a:graphic>
          <a:graphicData uri="http://schemas.openxmlformats.org/drawingml/2006/table">
            <a:tbl>
              <a:tblPr firstRow="1" bandRow="1">
                <a:tableStyleId>{5C22544A-7EE6-4342-B048-85BDC9FD1C3A}</a:tableStyleId>
              </a:tblPr>
              <a:tblGrid>
                <a:gridCol w="1097280"/>
                <a:gridCol w="6035040"/>
                <a:gridCol w="2651760"/>
              </a:tblGrid>
              <a:tr h="558800">
                <a:tc>
                  <a:txBody>
                    <a:bodyPr/>
                    <a:lstStyle/>
                    <a:p>
                      <a:pPr algn="ctr"/>
                      <a:r>
                        <a:rPr sz="1100">
                          <a:latin typeface="Arial" panose="020B0604020202020204" pitchFamily="34" charset="0"/>
                          <a:cs typeface="Arial" panose="020B0604020202020204" pitchFamily="34" charset="0"/>
                        </a:rPr>
                        <a:t>Phase</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Activity</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c>
                  <a:txBody>
                    <a:bodyPr/>
                    <a:lstStyle/>
                    <a:p>
                      <a:pPr algn="ctr"/>
                      <a:r>
                        <a:rPr sz="1100">
                          <a:latin typeface="Arial" panose="020B0604020202020204" pitchFamily="34" charset="0"/>
                          <a:cs typeface="Arial" panose="020B0604020202020204" pitchFamily="34" charset="0"/>
                        </a:rPr>
                        <a:t>Timeline</a:t>
                      </a:r>
                      <a:endParaRPr sz="1100">
                        <a:latin typeface="Arial" panose="020B0604020202020204" pitchFamily="34" charset="0"/>
                        <a:cs typeface="Arial" panose="020B0604020202020204" pitchFamily="34" charset="0"/>
                      </a:endParaRPr>
                    </a:p>
                  </a:txBody>
                  <a:tcPr marL="0" marR="0" marT="0" marB="0" anchor="ctr" anchorCtr="0">
                    <a:solidFill>
                      <a:srgbClr val="4472C4"/>
                    </a:solidFill>
                  </a:tcPr>
                </a:tc>
              </a:tr>
              <a:tr h="558800">
                <a:tc>
                  <a:txBody>
                    <a:bodyPr/>
                    <a:lstStyle/>
                    <a:p>
                      <a:pPr algn="ctr"/>
                      <a:r>
                        <a:rPr sz="1100">
                          <a:latin typeface="Arial" panose="020B0604020202020204" pitchFamily="34" charset="0"/>
                          <a:cs typeface="Arial" panose="020B0604020202020204" pitchFamily="34" charset="0"/>
                        </a:rPr>
                        <a:t>Phase 1</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Literature Survey &amp; Problem Definition</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Aug 2026</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r>
              <a:tr h="558800">
                <a:tc>
                  <a:txBody>
                    <a:bodyPr/>
                    <a:lstStyle/>
                    <a:p>
                      <a:pPr algn="ctr"/>
                      <a:r>
                        <a:rPr sz="1100">
                          <a:latin typeface="Arial" panose="020B0604020202020204" pitchFamily="34" charset="0"/>
                          <a:cs typeface="Arial" panose="020B0604020202020204" pitchFamily="34" charset="0"/>
                        </a:rPr>
                        <a:t>Phase 2</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System Design, RAG Architecture &amp; Environment Setup</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lang="en-US" sz="1100">
                          <a:latin typeface="Arial" panose="020B0604020202020204" pitchFamily="34" charset="0"/>
                          <a:cs typeface="Arial" panose="020B0604020202020204" pitchFamily="34" charset="0"/>
                        </a:rPr>
                        <a:t>Aug-Sep</a:t>
                      </a:r>
                      <a:r>
                        <a:rPr sz="1100">
                          <a:latin typeface="Arial" panose="020B0604020202020204" pitchFamily="34" charset="0"/>
                          <a:cs typeface="Arial" panose="020B0604020202020204" pitchFamily="34" charset="0"/>
                        </a:rPr>
                        <a:t> 2026</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r>
              <a:tr h="558800">
                <a:tc>
                  <a:txBody>
                    <a:bodyPr/>
                    <a:lstStyle/>
                    <a:p>
                      <a:pPr algn="ctr"/>
                      <a:r>
                        <a:rPr sz="1100">
                          <a:latin typeface="Arial" panose="020B0604020202020204" pitchFamily="34" charset="0"/>
                          <a:cs typeface="Arial" panose="020B0604020202020204" pitchFamily="34" charset="0"/>
                        </a:rPr>
                        <a:t>Phase 3</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Document Processing, Text/Table Extraction &amp; Chunking</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Sep–Oct 2026</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r>
              <a:tr h="558800">
                <a:tc>
                  <a:txBody>
                    <a:bodyPr/>
                    <a:lstStyle/>
                    <a:p>
                      <a:pPr algn="ctr"/>
                      <a:r>
                        <a:rPr sz="1100">
                          <a:latin typeface="Arial" panose="020B0604020202020204" pitchFamily="34" charset="0"/>
                          <a:cs typeface="Arial" panose="020B0604020202020204" pitchFamily="34" charset="0"/>
                        </a:rPr>
                        <a:t>Phase 4</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Embedding Generation &amp; FAISS Vector Indexing</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Oct 2026</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r>
              <a:tr h="558800">
                <a:tc>
                  <a:txBody>
                    <a:bodyPr/>
                    <a:lstStyle/>
                    <a:p>
                      <a:pPr algn="ctr"/>
                      <a:r>
                        <a:rPr sz="1100">
                          <a:latin typeface="Arial" panose="020B0604020202020204" pitchFamily="34" charset="0"/>
                          <a:cs typeface="Arial" panose="020B0604020202020204" pitchFamily="34" charset="0"/>
                        </a:rPr>
                        <a:t>Phase 5</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Query Retrieval, Reranking &amp; LLM Integration</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Oct 2026</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r>
              <a:tr h="558800">
                <a:tc>
                  <a:txBody>
                    <a:bodyPr/>
                    <a:lstStyle/>
                    <a:p>
                      <a:pPr algn="ctr"/>
                      <a:r>
                        <a:rPr sz="1100">
                          <a:latin typeface="Arial" panose="020B0604020202020204" pitchFamily="34" charset="0"/>
                          <a:cs typeface="Arial" panose="020B0604020202020204" pitchFamily="34" charset="0"/>
                        </a:rPr>
                        <a:t>Phase 6</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RAG Pipeline, Grounded Answering &amp; Source Citation</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Oct–Nov 2026</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r>
              <a:tr h="558800">
                <a:tc>
                  <a:txBody>
                    <a:bodyPr/>
                    <a:lstStyle/>
                    <a:p>
                      <a:pPr algn="ctr"/>
                      <a:r>
                        <a:rPr sz="1100">
                          <a:latin typeface="Arial" panose="020B0604020202020204" pitchFamily="34" charset="0"/>
                          <a:cs typeface="Arial" panose="020B0604020202020204" pitchFamily="34" charset="0"/>
                        </a:rPr>
                        <a:t>Phase 7</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Pattern/Trend Analysis, Visualization &amp; Web Application</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c>
                  <a:txBody>
                    <a:bodyPr/>
                    <a:lstStyle/>
                    <a:p>
                      <a:pPr algn="ctr"/>
                      <a:r>
                        <a:rPr sz="1100">
                          <a:latin typeface="Arial" panose="020B0604020202020204" pitchFamily="34" charset="0"/>
                          <a:cs typeface="Arial" panose="020B0604020202020204" pitchFamily="34" charset="0"/>
                        </a:rPr>
                        <a:t>Nov 2026</a:t>
                      </a:r>
                      <a:endParaRPr sz="1100">
                        <a:latin typeface="Arial" panose="020B0604020202020204" pitchFamily="34" charset="0"/>
                        <a:cs typeface="Arial" panose="020B0604020202020204" pitchFamily="34" charset="0"/>
                      </a:endParaRPr>
                    </a:p>
                  </a:txBody>
                  <a:tcPr marL="0" marR="0" marT="0" marB="0" anchor="ctr" anchorCtr="0">
                    <a:solidFill>
                      <a:srgbClr val="DDE5F1"/>
                    </a:solidFill>
                  </a:tcPr>
                </a:tc>
              </a:tr>
              <a:tr h="558800">
                <a:tc>
                  <a:txBody>
                    <a:bodyPr/>
                    <a:lstStyle/>
                    <a:p>
                      <a:pPr algn="ctr"/>
                      <a:r>
                        <a:rPr sz="1100">
                          <a:latin typeface="Arial" panose="020B0604020202020204" pitchFamily="34" charset="0"/>
                          <a:cs typeface="Arial" panose="020B0604020202020204" pitchFamily="34" charset="0"/>
                        </a:rPr>
                        <a:t>Phase 8</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RAG Evaluation, Testing, Documentation &amp; Final Presentation</a:t>
                      </a:r>
                      <a:endParaRPr sz="1100">
                        <a:latin typeface="Arial" panose="020B0604020202020204" pitchFamily="34" charset="0"/>
                        <a:cs typeface="Arial" panose="020B0604020202020204" pitchFamily="34" charset="0"/>
                      </a:endParaRPr>
                    </a:p>
                  </a:txBody>
                  <a:tcPr marL="0" marR="0" marT="0" marB="0" anchor="ctr" anchorCtr="0">
                    <a:solidFill>
                      <a:srgbClr val="FFFFFF"/>
                    </a:solidFill>
                  </a:tcPr>
                </a:tc>
                <a:tc>
                  <a:txBody>
                    <a:bodyPr/>
                    <a:lstStyle/>
                    <a:p>
                      <a:pPr algn="ctr"/>
                      <a:r>
                        <a:rPr sz="1100">
                          <a:latin typeface="Arial" panose="020B0604020202020204" pitchFamily="34" charset="0"/>
                          <a:cs typeface="Arial" panose="020B0604020202020204" pitchFamily="34" charset="0"/>
                        </a:rPr>
                        <a:t>Nov</a:t>
                      </a:r>
                      <a:r>
                        <a:rPr lang="en-US" sz="1100">
                          <a:latin typeface="Arial" panose="020B0604020202020204" pitchFamily="34" charset="0"/>
                          <a:cs typeface="Arial" panose="020B0604020202020204" pitchFamily="34" charset="0"/>
                        </a:rPr>
                        <a:t> 2026</a:t>
                      </a:r>
                      <a:endParaRPr lang="en-US" sz="1100">
                        <a:latin typeface="Arial" panose="020B0604020202020204" pitchFamily="34" charset="0"/>
                        <a:cs typeface="Arial" panose="020B0604020202020204" pitchFamily="34" charset="0"/>
                      </a:endParaRPr>
                    </a:p>
                  </a:txBody>
                  <a:tcPr marL="0" marR="0" marT="0" marB="0" anchor="ctr" anchorCtr="0">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101090" y="770255"/>
            <a:ext cx="9875520" cy="521970"/>
          </a:xfrm>
          <a:prstGeom prst="rect">
            <a:avLst/>
          </a:prstGeom>
          <a:noFill/>
        </p:spPr>
        <p:txBody>
          <a:bodyPr wrap="square">
            <a:spAutoFit/>
          </a:bodyPr>
          <a:lstStyle/>
          <a:p>
            <a:pPr algn="ctr"/>
            <a:r>
              <a:rPr sz="2800" b="1">
                <a:solidFill>
                  <a:srgbClr val="1F1F1F"/>
                </a:solidFill>
                <a:latin typeface="Aptos"/>
              </a:rPr>
              <a:t>Conclusion</a:t>
            </a:r>
            <a:endParaRPr sz="2800" b="1">
              <a:solidFill>
                <a:srgbClr val="1F1F1F"/>
              </a:solidFill>
              <a:latin typeface="Aptos"/>
            </a:endParaRPr>
          </a:p>
        </p:txBody>
      </p:sp>
      <p:sp>
        <p:nvSpPr>
          <p:cNvPr id="13" name="TextBox 12"/>
          <p:cNvSpPr txBox="1"/>
          <p:nvPr/>
        </p:nvSpPr>
        <p:spPr>
          <a:xfrm>
            <a:off x="1305560" y="1849755"/>
            <a:ext cx="9601200" cy="1753235"/>
          </a:xfrm>
          <a:prstGeom prst="rect">
            <a:avLst/>
          </a:prstGeom>
          <a:noFill/>
        </p:spPr>
        <p:txBody>
          <a:bodyPr wrap="square">
            <a:spAutoFit/>
          </a:bodyPr>
          <a:lstStyle/>
          <a:p>
            <a:pPr algn="l">
              <a:spcAft>
                <a:spcPts val="900"/>
              </a:spcAft>
            </a:pPr>
            <a:r>
              <a:rPr lang="en-US" altLang="en-US">
                <a:solidFill>
                  <a:srgbClr val="1F1F1F"/>
                </a:solidFill>
                <a:latin typeface="Arial" panose="020B0604020202020204" pitchFamily="34" charset="0"/>
                <a:cs typeface="Arial" panose="020B0604020202020204" pitchFamily="34" charset="0"/>
              </a:rPr>
              <a:t>The proposed project will develop an AI-powered RAG-based document analysis system that combines semantic retrieval, grounded question answering and source citation. It will further extend document interaction through pattern and trend analysis and visualization. The identified research gap provides the foundation for integrating these capabilities into a unified system. The next phase will focus on implementation, integration, testing and evaluation of the proposed solution.</a:t>
            </a:r>
            <a:endParaRPr lang="en-US" altLang="en-US">
              <a:solidFill>
                <a:srgbClr val="1F1F1F"/>
              </a:solidFill>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dirty="0"/>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11"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12" name="TextBox 11"/>
          <p:cNvSpPr txBox="1"/>
          <p:nvPr/>
        </p:nvSpPr>
        <p:spPr>
          <a:xfrm>
            <a:off x="1090930" y="690245"/>
            <a:ext cx="9875520" cy="521970"/>
          </a:xfrm>
          <a:prstGeom prst="rect">
            <a:avLst/>
          </a:prstGeom>
          <a:noFill/>
        </p:spPr>
        <p:txBody>
          <a:bodyPr wrap="square">
            <a:spAutoFit/>
          </a:bodyPr>
          <a:lstStyle/>
          <a:p>
            <a:pPr algn="ctr"/>
            <a:r>
              <a:rPr sz="2800" b="1">
                <a:solidFill>
                  <a:srgbClr val="1F1F1F"/>
                </a:solidFill>
                <a:latin typeface="Aptos"/>
              </a:rPr>
              <a:t>References</a:t>
            </a:r>
            <a:endParaRPr sz="2800" b="1">
              <a:solidFill>
                <a:srgbClr val="1F1F1F"/>
              </a:solidFill>
              <a:latin typeface="Aptos"/>
            </a:endParaRPr>
          </a:p>
        </p:txBody>
      </p:sp>
      <p:sp>
        <p:nvSpPr>
          <p:cNvPr id="3" name="Text Box 2"/>
          <p:cNvSpPr txBox="1"/>
          <p:nvPr/>
        </p:nvSpPr>
        <p:spPr>
          <a:xfrm>
            <a:off x="1362710" y="1612265"/>
            <a:ext cx="9455785" cy="4139565"/>
          </a:xfrm>
          <a:prstGeom prst="rect">
            <a:avLst/>
          </a:prstGeom>
        </p:spPr>
        <p:txBody>
          <a:bodyPr wrap="square">
            <a:noAutofit/>
          </a:bodyPr>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Lewis, P. et al. (2020), “Retrieval-Augmented Generation for Knowledge-Intensive NLP Tasks,” NeurIPS.</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Karpukhin, V. et al. (2020), “Dense Passage Retrieval for Open-Domain Question Answering,” EMNLP.</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Reimers, N. &amp; Gurevych, I. (2019), “Sentence-BERT: Sentence Embeddings using Siamese BERT-Networks,” EMNLP-IJCNLP.</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Izacard, G. &amp; Grave, E. (2021), “Leveraging Passage Retrieval with Generative Models for Open Domain Question Answering,” EACL.</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Gao, Y. et al. (2023), “Retrieval-Augmented Generation for Large Language Models: A Survey,” arXiv.</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Asai, A. et al. (2024), “Self-RAG: Learning to Retrieve, Generate, and Critique through Self-Reflection,” ICLR.</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Es, S. et al. (2023), “RAGAS: Automated Evaluation of Retrieval Augmented Generation,” arXiv.</a:t>
            </a:r>
            <a:endParaRPr sz="1600">
              <a:latin typeface="Arial" panose="020B0604020202020204" pitchFamily="34" charset="0"/>
              <a:cs typeface="Arial" panose="020B0604020202020204" pitchFamily="34" charset="0"/>
            </a:endParaRPr>
          </a:p>
          <a:p>
            <a:pPr marL="342900" indent="-342900">
              <a:buFont typeface="Arial" panose="020B0604020202020204" pitchFamily="34" charset="0"/>
              <a:buAutoNum type="arabicPeriod"/>
            </a:pPr>
            <a:r>
              <a:rPr sz="1600">
                <a:latin typeface="Arial" panose="020B0604020202020204" pitchFamily="34" charset="0"/>
                <a:cs typeface="Arial" panose="020B0604020202020204" pitchFamily="34" charset="0"/>
              </a:rPr>
              <a:t>Johnson, J., Douze, M. &amp; Jégou, H. (2021), “Billion-Scale Similarity Search with GPUs,” IEEE Transactions on Big Data.</a:t>
            </a:r>
            <a:endParaRPr sz="1600">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wrap="square"/>
          <a:lstStyle/>
          <a:p>
            <a:pPr algn="l"/>
            <a:r>
              <a:rPr sz="900" b="0">
                <a:solidFill>
                  <a:srgbClr val="646464"/>
                </a:solidFill>
                <a:latin typeface="Aptos"/>
              </a:rPr>
              <a:t>07/09/2026</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pic>
        <p:nvPicPr>
          <p:cNvPr id="2" name="Picture 1"/>
          <p:cNvPicPr>
            <a:picLocks noChangeAspect="1"/>
          </p:cNvPicPr>
          <p:nvPr/>
        </p:nvPicPr>
        <p:blipFill>
          <a:blip r:embed="rId1"/>
          <a:stretch>
            <a:fillRect/>
          </a:stretch>
        </p:blipFill>
        <p:spPr>
          <a:xfrm>
            <a:off x="1" y="-396"/>
            <a:ext cx="1458484" cy="690861"/>
          </a:xfrm>
          <a:prstGeom prst="rect">
            <a:avLst/>
          </a:prstGeom>
        </p:spPr>
      </p:pic>
      <p:sp>
        <p:nvSpPr>
          <p:cNvPr id="8" name="Footer Placeholder 2"/>
          <p:cNvSpPr>
            <a:spLocks noGrp="1"/>
          </p:cNvSpPr>
          <p:nvPr>
            <p:ph type="ftr" sz="quarter" idx="11"/>
          </p:nvPr>
        </p:nvSpPr>
        <p:spPr>
          <a:xfrm>
            <a:off x="4038600" y="6356350"/>
            <a:ext cx="4114800" cy="365125"/>
          </a:xfrm>
        </p:spPr>
        <p:txBody>
          <a:bodyPr wrap="square"/>
          <a:lstStyle/>
          <a:p>
            <a:pPr algn="ctr"/>
            <a:r>
              <a:rPr sz="900" b="0">
                <a:solidFill>
                  <a:srgbClr val="646464"/>
                </a:solidFill>
                <a:latin typeface="Aptos"/>
              </a:rPr>
              <a:t>PRC-I</a:t>
            </a:r>
            <a:endParaRPr sz="900" b="0">
              <a:solidFill>
                <a:srgbClr val="646464"/>
              </a:solidFill>
              <a:latin typeface="Aptos"/>
            </a:endParaRPr>
          </a:p>
        </p:txBody>
      </p:sp>
      <p:sp>
        <p:nvSpPr>
          <p:cNvPr id="9" name="TextBox 8"/>
          <p:cNvSpPr txBox="1"/>
          <p:nvPr/>
        </p:nvSpPr>
        <p:spPr>
          <a:xfrm>
            <a:off x="3040380" y="2565400"/>
            <a:ext cx="6400800" cy="675640"/>
          </a:xfrm>
          <a:prstGeom prst="rect">
            <a:avLst/>
          </a:prstGeom>
          <a:noFill/>
        </p:spPr>
        <p:txBody>
          <a:bodyPr wrap="square">
            <a:spAutoFit/>
          </a:bodyPr>
          <a:lstStyle/>
          <a:p>
            <a:pPr algn="ctr"/>
            <a:r>
              <a:rPr sz="3800" b="1">
                <a:solidFill>
                  <a:srgbClr val="1F1F1F"/>
                </a:solidFill>
                <a:latin typeface="Aptos"/>
              </a:rPr>
              <a:t>THANK YOU</a:t>
            </a:r>
            <a:r>
              <a:rPr lang="en-US" sz="3800" b="1">
                <a:solidFill>
                  <a:srgbClr val="1F1F1F"/>
                </a:solidFill>
                <a:latin typeface="Aptos"/>
              </a:rPr>
              <a:t>!</a:t>
            </a:r>
            <a:endParaRPr lang="en-US" sz="3800" b="1">
              <a:solidFill>
                <a:srgbClr val="1F1F1F"/>
              </a:solidFill>
              <a:latin typeface="Aptos"/>
            </a:endParaRPr>
          </a:p>
        </p:txBody>
      </p:sp>
    </p:spTree>
  </p:cSld>
  <p:clrMapOvr>
    <a:masterClrMapping/>
  </p:clrMapOvr>
</p:sld>
</file>

<file path=ppt/tags/tag1.xml><?xml version="1.0" encoding="utf-8"?>
<p:tagLst xmlns:p="http://schemas.openxmlformats.org/presentationml/2006/main">
  <p:tag name="TABLE_ENDDRAG_ORIGIN_RECT" val="877*412"/>
  <p:tag name="TABLE_ENDDRAG_RECT" val="45*89*877*412"/>
</p:tagLst>
</file>

<file path=ppt/tags/tag2.xml><?xml version="1.0" encoding="utf-8"?>
<p:tagLst xmlns:p="http://schemas.openxmlformats.org/presentationml/2006/main">
  <p:tag name="TABLE_ENDDRAG_ORIGIN_RECT" val="396*350"/>
  <p:tag name="TABLE_ENDDRAG_RECT" val="284*131*396*35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11210</Words>
  <Application>WPS Presentation</Application>
  <PresentationFormat>Widescreen</PresentationFormat>
  <Paragraphs>850</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Arial</vt:lpstr>
      <vt:lpstr>SimSun</vt:lpstr>
      <vt:lpstr>Wingdings</vt:lpstr>
      <vt:lpstr>Aptos</vt:lpstr>
      <vt:lpstr>Segoe UI</vt:lpstr>
      <vt:lpstr>Calibri</vt:lpstr>
      <vt:lpstr>Microsoft YaHei</vt:lpstr>
      <vt:lpstr>Arial Unicode MS</vt:lpstr>
      <vt:lpstr>Calibri Light</vt:lpstr>
      <vt:lpstr>Office Theme</vt:lpstr>
      <vt:lpstr>Custom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Lakshmipriya K</cp:lastModifiedBy>
  <cp:revision>213</cp:revision>
  <cp:lastPrinted>2025-06-24T13:51:00Z</cp:lastPrinted>
  <dcterms:created xsi:type="dcterms:W3CDTF">2022-05-20T10:20:00Z</dcterms:created>
  <dcterms:modified xsi:type="dcterms:W3CDTF">2026-09-10T10:46:36Z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33774E6DFE04431CA8BFD0EF55E0B0F5_13</vt:lpwstr>
  </property>
  <property fmtid="{D5CDD505-2E9C-101B-9397-08002B2CF9AE}" pid="3" name="KSOProductBuildVer">
    <vt:lpwstr>1033-12.1.0.28485</vt:lpwstr>
  </property>
</Properties>
</file>